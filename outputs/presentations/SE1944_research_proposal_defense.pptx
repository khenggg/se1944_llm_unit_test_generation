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 w="12700">
            <a:solidFill>
              <a:srgbClr val="0F27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6400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F3F0"/>
                </a:solidFill>
              </a:rPr>
              <a:t>RT-SWT-001 | BẢO VỆ ĐỀ CƯƠNG NGHIÊN CỨU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1430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Sinh Unit Test Tự Động Cho Hàm Java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DBEAFE"/>
                </a:solidFill>
              </a:rPr>
              <a:t>Dùng GPT-4o-mini: paired comparison với Student Benchmark Tests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94360" y="3703320"/>
            <a:ext cx="2029968" cy="292608"/>
          </a:xfrm>
          <a:prstGeom prst="roundRect">
            <a:avLst>
              <a:gd name="adj" fmla="val 12500"/>
            </a:avLst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3776472"/>
            <a:ext cx="1883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PL  Lê Thế Khang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926080" y="3703320"/>
            <a:ext cx="2029968" cy="292608"/>
          </a:xfrm>
          <a:prstGeom prst="roundRect">
            <a:avLst>
              <a:gd name="adj" fmla="val 12500"/>
            </a:avLst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99232" y="3776472"/>
            <a:ext cx="1883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DG  Huỳnh Cao Phước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257800" y="3703320"/>
            <a:ext cx="2029968" cy="292608"/>
          </a:xfrm>
          <a:prstGeom prst="roundRect">
            <a:avLst>
              <a:gd name="adj" fmla="val 12500"/>
            </a:avLst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30952" y="3776472"/>
            <a:ext cx="1883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LR  Phạm An Khang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594360" y="4206240"/>
            <a:ext cx="2029968" cy="292608"/>
          </a:xfrm>
          <a:prstGeom prst="roundRect">
            <a:avLst>
              <a:gd name="adj" fmla="val 12500"/>
            </a:avLst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4279392"/>
            <a:ext cx="1883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MS  Nguyễn Thị Như Ý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2926080" y="4206240"/>
            <a:ext cx="2029968" cy="292608"/>
          </a:xfrm>
          <a:prstGeom prst="roundRect">
            <a:avLst>
              <a:gd name="adj" fmla="val 12500"/>
            </a:avLst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9232" y="4279392"/>
            <a:ext cx="1883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RW  Đỗ Long Vỹ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594360" y="5074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1FAE5"/>
                </a:solidFill>
              </a:rPr>
              <a:t>SE1944 - Nhóm 01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53949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Ngày bảo vệ: cập nhật theo lịch thực tế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6492240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HumanEval-Java | GPT-4o-mini | JaCoCo + PIT | Wilcoxon + Binomial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ĐẶT VẤN ĐỀ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Vấn Đề Nghiên Cứu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Vì sao Branch Coverage chưa đủ để đánh giá unit test do LLM sinh ra?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719072"/>
            <a:ext cx="3401568" cy="3429000"/>
          </a:xfrm>
          <a:prstGeom prst="roundRect">
            <a:avLst>
              <a:gd name="adj" fmla="val 1613"/>
            </a:avLst>
          </a:prstGeom>
          <a:solidFill>
            <a:srgbClr val="EAF1FA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" y="19385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42"/>
                </a:solidFill>
              </a:rPr>
              <a:t>Bối cảnh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2450592"/>
            <a:ext cx="29260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00" dirty="0">
                <a:solidFill>
                  <a:srgbClr val="1B2633"/>
                </a:solidFill>
              </a:rPr>
              <a:t>Viết unit test thủ công tốn thời gian và dễ bỏ sót edge cases.</a:t>
            </a:r>
            <a:pPr indent="0" marL="0">
              <a:buNone/>
            </a:pPr>
            <a:r>
              <a:rPr lang="en-US" sz="1000" dirty="0">
                <a:solidFill>
                  <a:srgbClr val="1B2633"/>
                </a:solidFill>
              </a:rPr>
              <a:t>
</a:t>
            </a:r>
            <a:endParaRPr lang="en-US" sz="1000" dirty="0"/>
          </a:p>
          <a:p>
            <a:r>
              <a:rPr lang="en-US" sz="1000" dirty="0">
                <a:solidFill>
                  <a:srgbClr val="1B2633"/>
                </a:solidFill>
              </a:rPr>
              <a:t>LLM test generation là hướng SOTA giúp tự động hóa một phần quy trình kiểm thử.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719072"/>
            <a:ext cx="3401568" cy="3429000"/>
          </a:xfrm>
          <a:prstGeom prst="roundRect">
            <a:avLst>
              <a:gd name="adj" fmla="val 1613"/>
            </a:avLst>
          </a:prstGeom>
          <a:solidFill>
            <a:srgbClr val="EAF7F7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16552" y="19385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42"/>
                </a:solidFill>
              </a:rPr>
              <a:t>Hiện trạng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53128" y="2450592"/>
            <a:ext cx="29260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00" dirty="0">
                <a:solidFill>
                  <a:srgbClr val="1B2633"/>
                </a:solidFill>
              </a:rPr>
              <a:t>GPT-4, LLaMA-3 và GPT-4o-mini đã cho thấy khả năng sinh test khá tốt.</a:t>
            </a:r>
            <a:pPr indent="0" marL="0">
              <a:buNone/>
            </a:pPr>
            <a:r>
              <a:rPr lang="en-US" sz="1000" dirty="0">
                <a:solidFill>
                  <a:srgbClr val="1B2633"/>
                </a:solidFill>
              </a:rPr>
              <a:t>
</a:t>
            </a:r>
            <a:endParaRPr lang="en-US" sz="1000" dirty="0"/>
          </a:p>
          <a:p>
            <a:r>
              <a:rPr lang="en-US" sz="1000" dirty="0">
                <a:solidFill>
                  <a:srgbClr val="1B2633"/>
                </a:solidFill>
              </a:rPr>
              <a:t>Nhưng coverage cao không đồng nghĩa với fault detection tốt.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719072"/>
            <a:ext cx="3401568" cy="3429000"/>
          </a:xfrm>
          <a:prstGeom prst="roundRect">
            <a:avLst>
              <a:gd name="adj" fmla="val 1613"/>
            </a:avLst>
          </a:prstGeom>
          <a:solidFill>
            <a:srgbClr val="FFF4D6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65592" y="19385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42"/>
                </a:solidFill>
              </a:rPr>
              <a:t>Research GAP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02168" y="2450592"/>
            <a:ext cx="29260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00" dirty="0">
                <a:solidFill>
                  <a:srgbClr val="1B2633"/>
                </a:solidFill>
              </a:rPr>
              <a:t>GAP-D: thiếu paired comparison giữa GPT-4o-mini và Student Benchmark trên cùng HumanEval-Java functions.</a:t>
            </a:r>
            <a:pPr indent="0" marL="0">
              <a:buNone/>
            </a:pPr>
            <a:r>
              <a:rPr lang="en-US" sz="1000" dirty="0">
                <a:solidFill>
                  <a:srgbClr val="1B2633"/>
                </a:solidFill>
              </a:rPr>
              <a:t>
</a:t>
            </a:r>
            <a:endParaRPr lang="en-US" sz="1000" dirty="0"/>
          </a:p>
          <a:p>
            <a:r>
              <a:rPr lang="en-US" sz="1000" dirty="0">
                <a:solidFill>
                  <a:srgbClr val="1B2633"/>
                </a:solidFill>
              </a:rPr>
              <a:t>GAP-M: cần dùng Mutation Score bên cạnh Branch Coverage để tránh đánh giá lệch.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5513832"/>
            <a:ext cx="11155680" cy="566928"/>
          </a:xfrm>
          <a:prstGeom prst="rect">
            <a:avLst/>
          </a:prstGeom>
          <a:solidFill>
            <a:srgbClr val="0F2742"/>
          </a:solidFill>
          <a:ln w="12700">
            <a:solidFill>
              <a:srgbClr val="0F27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" y="5696712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Ý nghĩa: cần cơ sở khoa học để biết AI hỗ trợ được sinh viên đến mức nào trước khi dùng trong học tập hoặc chấm bài.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proposal.md; gap-statement-final.md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NGHIÊN CỨU LIÊN QUAN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Tổng Quan Related Work &amp; GAP Mapping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Bảng bằng chứng gộp: N = 39 papers sau khi loại trùng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1600200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22376" y="1719072"/>
            <a:ext cx="1847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SỐ PAPER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22376" y="199339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2742"/>
                </a:solidFill>
              </a:rPr>
              <a:t>39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22376" y="2404872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paper đã tổng hợp</a:t>
            </a:r>
            <a:endParaRPr lang="en-US" sz="680" dirty="0"/>
          </a:p>
        </p:txBody>
      </p:sp>
      <p:sp>
        <p:nvSpPr>
          <p:cNvPr id="12" name="Shape 10"/>
          <p:cNvSpPr/>
          <p:nvPr/>
        </p:nvSpPr>
        <p:spPr>
          <a:xfrm>
            <a:off x="2944368" y="1600200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072384" y="1719072"/>
            <a:ext cx="1847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GAP-D CHÍNH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072384" y="199339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D64545"/>
                </a:solidFill>
              </a:rPr>
              <a:t>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072384" y="2404872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paper làm paired Java student baseline</a:t>
            </a:r>
            <a:endParaRPr lang="en-US" sz="680" dirty="0"/>
          </a:p>
        </p:txBody>
      </p:sp>
      <p:sp>
        <p:nvSpPr>
          <p:cNvPr id="16" name="Shape 14"/>
          <p:cNvSpPr/>
          <p:nvPr/>
        </p:nvSpPr>
        <p:spPr>
          <a:xfrm>
            <a:off x="5294376" y="1600200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22392" y="1719072"/>
            <a:ext cx="1847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GAP-M PHỤ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422392" y="199339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6F73"/>
                </a:solidFill>
              </a:rPr>
              <a:t>12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22392" y="2404872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paper ủng hộ dùng 2 metric</a:t>
            </a:r>
            <a:endParaRPr lang="en-US" sz="68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71800"/>
          <a:ext cx="10424160" cy="2377440"/>
        </p:xfrm>
        <a:graphic>
          <a:graphicData uri="http://schemas.openxmlformats.org/drawingml/2006/table">
            <a:tbl>
              <a:tblPr/>
              <a:tblGrid>
                <a:gridCol w="914400"/>
                <a:gridCol w="1417320"/>
                <a:gridCol w="38862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ID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Paper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Bằng chứng chính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Hạn chế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GS010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Huang'26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ULT: 30.22% BC, 40.21% MS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Chưa có paired baseline với sinh viên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GS005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Al-Tse'23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TestPilot: 52.8% Branch Coverage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Không đo Mutation Score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GS024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AgoneTest'25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Có đánh giá GPT-4o-mini trên Java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Compile ban đầu còn thấp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GS026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MutGen'26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100% coverage vẫn có thể chỉ 4% MS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Mutation feedback tốn tài nguyên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evidence-table-merged.md; gap-statement-final.md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CÂU HỎI NGHIÊN CỨU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Bốn Câu Hỏi Nghiên Cứu (Research Questions)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Đánh giá theo ngưỡng, paired comparison và độ tin cậy kép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192938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F73"/>
                </a:solidFill>
              </a:rPr>
              <a:t>RQ1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27632" y="19019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F2742"/>
                </a:solidFill>
              </a:rPr>
              <a:t>Branch Coverage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1627632" y="222199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B2633"/>
                </a:solidFill>
              </a:rPr>
              <a:t>Trung vị BC-AI &gt;= 30.22%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1627632" y="2633472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One-sample Wilcoxon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6172200" y="169164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FFF4D6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36792" y="192938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F73"/>
                </a:solidFill>
              </a:rPr>
              <a:t>RQ2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4032" y="19019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F2742"/>
                </a:solidFill>
              </a:rPr>
              <a:t>Mutation Score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7114032" y="222199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B2633"/>
                </a:solidFill>
              </a:rPr>
              <a:t>Trung vị MS-AI &gt;= 4.0% sàn và &gt;= 40.21% mục tiêu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7114032" y="2633472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One-sample Wilcoxon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85800" y="3630168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EAF1FA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0392" y="386791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F73"/>
                </a:solidFill>
              </a:rPr>
              <a:t>RQ3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27632" y="38404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F2742"/>
                </a:solidFill>
              </a:rPr>
              <a:t>AI vs Student</a:t>
            </a:r>
            <a:endParaRPr lang="en-US" sz="1230" dirty="0"/>
          </a:p>
        </p:txBody>
      </p:sp>
      <p:sp>
        <p:nvSpPr>
          <p:cNvPr id="21" name="Text 19"/>
          <p:cNvSpPr/>
          <p:nvPr/>
        </p:nvSpPr>
        <p:spPr>
          <a:xfrm>
            <a:off x="1627632" y="416052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B2633"/>
                </a:solidFill>
              </a:rPr>
              <a:t>So sánh paired BC/MS trên cùng hàm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1627632" y="457200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Paired Wilcoxon, two-tailed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3630168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36792" y="386791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F73"/>
                </a:solidFill>
              </a:rPr>
              <a:t>RQ4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14032" y="38404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F2742"/>
                </a:solidFill>
              </a:rPr>
              <a:t>Độ tin cậy kép</a:t>
            </a:r>
            <a:endParaRPr lang="en-US" sz="1230" dirty="0"/>
          </a:p>
        </p:txBody>
      </p:sp>
      <p:sp>
        <p:nvSpPr>
          <p:cNvPr id="26" name="Text 24"/>
          <p:cNvSpPr/>
          <p:nvPr/>
        </p:nvSpPr>
        <p:spPr>
          <a:xfrm>
            <a:off x="7114032" y="416052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B2633"/>
                </a:solidFill>
              </a:rPr>
              <a:t>BC &gt;= 30.22% và MS &gt;= 4.0% cho &gt;50% số hàm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7114032" y="457200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Exact Binomial Test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777240" y="57150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Đóng góp chính: cùng 50 hàm được đo hai lần - test do GPT-4o-mini sinh và Student Benchmark test - bằng cùng pipeline JaCoCo/PIT.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rq-final.md; hypotheses-draft.md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QUY TRÌNH THỰC NGHIỆM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Thực Nghiệm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Sáu bước tự động từ lọc dataset đến kiểm định thống kê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12648" y="23134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F73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41832" y="229514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F2742"/>
                </a:solidFill>
              </a:rPr>
              <a:t>Lọc Dataset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941832" y="25786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2616F"/>
                </a:solidFill>
              </a:rPr>
              <a:t>N=50; CC 5-16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2404872" y="342900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14600" y="35935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F73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43784" y="357530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F2742"/>
                </a:solidFill>
              </a:rPr>
              <a:t>LLM Prompting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2843784" y="38587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2616F"/>
                </a:solidFill>
              </a:rPr>
              <a:t>GPT-4o-mini; temp=0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4306824" y="214884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16552" y="23134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F73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45736" y="229514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F2742"/>
                </a:solidFill>
              </a:rPr>
              <a:t>Hậu xử lý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4745736" y="25786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2616F"/>
                </a:solidFill>
              </a:rPr>
              <a:t>Tách code JUnit 4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6208776" y="342900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318504" y="35935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F73"/>
                </a:solidFill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47688" y="357530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F2742"/>
                </a:solidFill>
              </a:rPr>
              <a:t>Compile + Repair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647688" y="38587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2616F"/>
                </a:solidFill>
              </a:rPr>
              <a:t>Maven; sửa 1 vòng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8110728" y="214884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0456" y="23134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F73"/>
                </a:solidFill>
              </a:rPr>
              <a:t>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549640" y="229514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F2742"/>
                </a:solidFill>
              </a:rPr>
              <a:t>Đo metric</a:t>
            </a:r>
            <a:endParaRPr lang="en-US" sz="870" dirty="0"/>
          </a:p>
        </p:txBody>
      </p:sp>
      <p:sp>
        <p:nvSpPr>
          <p:cNvPr id="27" name="Text 25"/>
          <p:cNvSpPr/>
          <p:nvPr/>
        </p:nvSpPr>
        <p:spPr>
          <a:xfrm>
            <a:off x="8549640" y="25786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2616F"/>
                </a:solidFill>
              </a:rPr>
              <a:t>JaCoCo + PIT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0012680" y="3429000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122408" y="35935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F73"/>
                </a:solidFill>
              </a:rPr>
              <a:t>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451592" y="357530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F2742"/>
                </a:solidFill>
              </a:rPr>
              <a:t>Thống kê</a:t>
            </a:r>
            <a:endParaRPr lang="en-US" sz="870" dirty="0"/>
          </a:p>
        </p:txBody>
      </p:sp>
      <p:sp>
        <p:nvSpPr>
          <p:cNvPr id="31" name="Text 29"/>
          <p:cNvSpPr/>
          <p:nvPr/>
        </p:nvSpPr>
        <p:spPr>
          <a:xfrm>
            <a:off x="10451592" y="38587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2616F"/>
                </a:solidFill>
              </a:rPr>
              <a:t>scipy Wilcoxon/Binomial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777240" y="5285232"/>
            <a:ext cx="10561320" cy="502920"/>
          </a:xfrm>
          <a:prstGeom prst="rect">
            <a:avLst/>
          </a:prstGeom>
          <a:solidFill>
            <a:srgbClr val="0F2742"/>
          </a:solidFill>
          <a:ln w="12700">
            <a:solidFill>
              <a:srgbClr val="0F27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" y="5449824"/>
            <a:ext cx="10195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Quy tắc lỗi: test vẫn fail sau 1 vòng repair sẽ nhận 0% coverage và 0% mutation score, nhưng vẫn báo riêng compile status.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proposal.md; setup_experiment.py; generate_gpt_tests.py</a:t>
            </a:r>
            <a:endParaRPr lang="en-US" sz="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DATASET &amp; BASELINE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HumanEval-Java &amp; Student Baseline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Thiết kế paired comparison có kiểm soát trên cùng các hàm Java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1719072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13816" y="1837944"/>
            <a:ext cx="1847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BENCHMARK GỐC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13816" y="211226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2742"/>
                </a:solidFill>
              </a:rPr>
              <a:t>163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" y="2523744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hàm Java</a:t>
            </a:r>
            <a:endParaRPr lang="en-US" sz="680" dirty="0"/>
          </a:p>
        </p:txBody>
      </p:sp>
      <p:sp>
        <p:nvSpPr>
          <p:cNvPr id="12" name="Shape 10"/>
          <p:cNvSpPr/>
          <p:nvPr/>
        </p:nvSpPr>
        <p:spPr>
          <a:xfrm>
            <a:off x="3063240" y="1719072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91256" y="1837944"/>
            <a:ext cx="1847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MẪU CHỌN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191256" y="211226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6F73"/>
                </a:solidFill>
              </a:rPr>
              <a:t>50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91256" y="2523744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CC từ 5 đến 16</a:t>
            </a:r>
            <a:endParaRPr lang="en-US" sz="680" dirty="0"/>
          </a:p>
        </p:txBody>
      </p:sp>
      <p:sp>
        <p:nvSpPr>
          <p:cNvPr id="16" name="Shape 14"/>
          <p:cNvSpPr/>
          <p:nvPr/>
        </p:nvSpPr>
        <p:spPr>
          <a:xfrm>
            <a:off x="5440680" y="1719072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68696" y="1837944"/>
            <a:ext cx="1847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SO SÁNH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568696" y="211226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2x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568696" y="2523744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AI test vs Student test</a:t>
            </a:r>
            <a:endParaRPr lang="en-US" sz="680" dirty="0"/>
          </a:p>
        </p:txBody>
      </p:sp>
      <p:sp>
        <p:nvSpPr>
          <p:cNvPr id="20" name="Shape 18"/>
          <p:cNvSpPr/>
          <p:nvPr/>
        </p:nvSpPr>
        <p:spPr>
          <a:xfrm>
            <a:off x="685800" y="3456432"/>
            <a:ext cx="4937760" cy="1645920"/>
          </a:xfrm>
          <a:prstGeom prst="roundRect">
            <a:avLst>
              <a:gd name="adj" fmla="val 3333"/>
            </a:avLst>
          </a:prstGeom>
          <a:solidFill>
            <a:srgbClr val="EAF1FA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3657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742"/>
                </a:solidFill>
              </a:rPr>
              <a:t>Vì sao chọn mẫu này?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005072"/>
            <a:ext cx="42976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920" dirty="0">
                <a:solidFill>
                  <a:srgbClr val="1B2633"/>
                </a:solidFill>
              </a:rPr>
              <a:t>Các hàm thuật toán, chuỗi và toán học khá độc lập.</a:t>
            </a:r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
</a:t>
            </a:r>
            <a:endParaRPr lang="en-US" sz="920" dirty="0"/>
          </a:p>
          <a:p>
            <a:r>
              <a:rPr lang="en-US" sz="920" dirty="0">
                <a:solidFill>
                  <a:srgbClr val="1B2633"/>
                </a:solidFill>
              </a:rPr>
              <a:t>CC 5-16 tránh hàm quá dễ nhưng vẫn đủ khả thi.</a:t>
            </a:r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
</a:t>
            </a:r>
            <a:endParaRPr lang="en-US" sz="920" dirty="0"/>
          </a:p>
          <a:p>
            <a:r>
              <a:rPr lang="en-US" sz="920" dirty="0">
                <a:solidFill>
                  <a:srgbClr val="1B2633"/>
                </a:solidFill>
              </a:rPr>
              <a:t>Repo local đã có correct Java code và benchmark tests.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035040" y="3456432"/>
            <a:ext cx="5120640" cy="1645920"/>
          </a:xfrm>
          <a:prstGeom prst="roundRect">
            <a:avLst>
              <a:gd name="adj" fmla="val 3333"/>
            </a:avLst>
          </a:prstGeom>
          <a:solidFill>
            <a:srgbClr val="EAF7F7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63640" y="3657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742"/>
                </a:solidFill>
              </a:rPr>
              <a:t>Thiết kế paired baseline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63640" y="4005072"/>
            <a:ext cx="443484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920" dirty="0">
                <a:solidFill>
                  <a:srgbClr val="1B2633"/>
                </a:solidFill>
              </a:rPr>
              <a:t>Student Benchmark tests được đo trên đúng cùng target functions.</a:t>
            </a:r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
</a:t>
            </a:r>
            <a:endParaRPr lang="en-US" sz="920" dirty="0"/>
          </a:p>
          <a:p>
            <a:r>
              <a:rPr lang="en-US" sz="920" dirty="0">
                <a:solidFill>
                  <a:srgbClr val="1B2633"/>
                </a:solidFill>
              </a:rPr>
              <a:t>Cả hai test suite dùng chung Maven, JaCoCo và PIT pipeline.</a:t>
            </a:r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
</a:t>
            </a:r>
            <a:endParaRPr lang="en-US" sz="920" dirty="0"/>
          </a:p>
          <a:p>
            <a:r>
              <a:rPr lang="en-US" sz="920" dirty="0">
                <a:solidFill>
                  <a:srgbClr val="1B2633"/>
                </a:solidFill>
              </a:rPr>
              <a:t>RQ3 dùng chênh lệch paired, không chỉ so sánh trung bình tổng.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human-eval-java; proposal.md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CẤU HÌNH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Cấu Hình LLM &amp; Đo Lường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Sinh test có tính tái lập, công cụ cố định, ground truth tự động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507492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1965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42"/>
                </a:solidFill>
              </a:rPr>
              <a:t>Sinh test bằng 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41832" y="246888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MODEL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2194560" y="245059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gpt-4o-mini-2024-07-18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941832" y="2734056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294436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TEMPERATURE</a:t>
            </a:r>
            <a:endParaRPr lang="en-US" sz="730" dirty="0"/>
          </a:p>
        </p:txBody>
      </p:sp>
      <p:sp>
        <p:nvSpPr>
          <p:cNvPr id="14" name="Text 12"/>
          <p:cNvSpPr/>
          <p:nvPr/>
        </p:nvSpPr>
        <p:spPr>
          <a:xfrm>
            <a:off x="2194560" y="29260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0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941832" y="3209544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341985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TOP_P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2194560" y="340156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1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41832" y="3685032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38953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MAX_TOKENS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2194560" y="387705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2000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41832" y="4160520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437083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PROMPTING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2194560" y="4352544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Zero-shot prompt có cấu trúc cho JUnit 4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941832" y="4636008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1737360"/>
            <a:ext cx="507492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965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742"/>
                </a:solidFill>
              </a:rPr>
              <a:t>Đo lường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28232" y="246888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BRANCH COVERAGE</a:t>
            </a:r>
            <a:endParaRPr lang="en-US" sz="730" dirty="0"/>
          </a:p>
        </p:txBody>
      </p:sp>
      <p:sp>
        <p:nvSpPr>
          <p:cNvPr id="28" name="Text 26"/>
          <p:cNvSpPr/>
          <p:nvPr/>
        </p:nvSpPr>
        <p:spPr>
          <a:xfrm>
            <a:off x="7680960" y="245059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JaCoCo v0.8.7+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428232" y="2734056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28232" y="294436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MUTATION SCORE</a:t>
            </a:r>
            <a:endParaRPr lang="en-US" sz="730" dirty="0"/>
          </a:p>
        </p:txBody>
      </p:sp>
      <p:sp>
        <p:nvSpPr>
          <p:cNvPr id="31" name="Text 29"/>
          <p:cNvSpPr/>
          <p:nvPr/>
        </p:nvSpPr>
        <p:spPr>
          <a:xfrm>
            <a:off x="7680960" y="29260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PIT / PiTest v1.7.4+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428232" y="3209544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419856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MUTATORS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7680960" y="340156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DEFAULTS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428232" y="3685032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895344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GROUND TRUTH</a:t>
            </a:r>
            <a:endParaRPr lang="en-US" sz="730" dirty="0"/>
          </a:p>
        </p:txBody>
      </p:sp>
      <p:sp>
        <p:nvSpPr>
          <p:cNvPr id="37" name="Text 35"/>
          <p:cNvSpPr/>
          <p:nvPr/>
        </p:nvSpPr>
        <p:spPr>
          <a:xfrm>
            <a:off x="7680960" y="387705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mã Java trong humaneval.correct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428232" y="4160520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4370832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0B6F73"/>
                </a:solidFill>
              </a:rPr>
              <a:t>IAA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7680960" y="4352544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B2633"/>
                </a:solidFill>
              </a:rPr>
              <a:t>Không áp dụng: đo bằng metric tự động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6428232" y="4636008"/>
            <a:ext cx="4480560" cy="0"/>
          </a:xfrm>
          <a:prstGeom prst="line">
            <a:avLst/>
          </a:prstGeom>
          <a:noFill/>
          <a:ln w="7620">
            <a:solidFill>
              <a:srgbClr val="DDE8E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" y="5715000"/>
            <a:ext cx="10332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2742"/>
                </a:solidFill>
              </a:rPr>
              <a:t>Điểm neo tái lập: cố định model version, prompt template, temperature, raw outputs, compile logs và metric CSV có timestamp.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proposal.md; test_api.py</a:t>
            </a:r>
            <a:endParaRPr lang="en-US" sz="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KẾ HOẠCH ĐÁNH GIÁ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Cách Diễn Giải Kết Quả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Chỉ reject H0 khi p-value đạt và metric đi đúng hướng mong đợi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64208"/>
          <a:ext cx="5212080" cy="3429000"/>
        </p:xfrm>
        <a:graphic>
          <a:graphicData uri="http://schemas.openxmlformats.org/drawingml/2006/table">
            <a:tbl>
              <a:tblPr/>
              <a:tblGrid>
                <a:gridCol w="685800"/>
                <a:gridCol w="1600200"/>
                <a:gridCol w="2926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RQ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Tiêu chí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Reject H0 khi...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RQ1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BC &gt;= 30.22%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p &lt; 0.05 và median &gt;= ngưỡng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RQ2a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MS &gt;= 4.0%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p &lt; 0.05 và median &gt;= ngưỡng sàn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RQ2b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MS &gt;= 40.21%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p &lt; 0.05 và median &gt;= mục tiêu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RQ3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AI vs Student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p &lt; 0.05 cho chênh lệch paired BC/MS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RQ4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Dual success &gt; 50%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B2633"/>
                          </a:solidFill>
                        </a:rPr>
                        <a:t>p &lt; 0.05 và tỷ lệ mẫu &gt; 50%</a:t>
                      </a:r>
                      <a:endParaRPr lang="en-US" sz="800" dirty="0"/>
                    </a:p>
                  </a:txBody>
                  <a:tcPr marL="54864" marR="54864" marT="54864" marB="54864">
                    <a:lnL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46520" y="1828800"/>
            <a:ext cx="480060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1828800"/>
            <a:ext cx="109728" cy="786384"/>
          </a:xfrm>
          <a:prstGeom prst="rect">
            <a:avLst/>
          </a:prstGeom>
          <a:solidFill>
            <a:srgbClr val="24A148"/>
          </a:solidFill>
          <a:ln w="12700">
            <a:solidFill>
              <a:srgbClr val="24A14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20840" y="19476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F2742"/>
                </a:solidFill>
              </a:rPr>
              <a:t>Double Positive</a:t>
            </a:r>
            <a:endParaRPr lang="en-US" sz="1030" dirty="0"/>
          </a:p>
        </p:txBody>
      </p:sp>
      <p:sp>
        <p:nvSpPr>
          <p:cNvPr id="12" name="Text 9"/>
          <p:cNvSpPr/>
          <p:nvPr/>
        </p:nvSpPr>
        <p:spPr>
          <a:xfrm>
            <a:off x="8595360" y="194767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24A148"/>
                </a:solidFill>
              </a:rPr>
              <a:t>BC và MS đạt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720840" y="2267712"/>
            <a:ext cx="4160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1B2633"/>
                </a:solidFill>
              </a:rPr>
              <a:t>AI tests mạnh cả về cấu trúc và logic.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6446520" y="2889504"/>
            <a:ext cx="4800600" cy="786384"/>
          </a:xfrm>
          <a:prstGeom prst="roundRect">
            <a:avLst>
              <a:gd name="adj" fmla="val 6977"/>
            </a:avLst>
          </a:prstGeom>
          <a:solidFill>
            <a:srgbClr val="FFF4D6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2889504"/>
            <a:ext cx="109728" cy="7863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00837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F2742"/>
                </a:solidFill>
              </a:rPr>
              <a:t>Mixed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8595360" y="3008376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</a:rPr>
              <a:t>BC đạt, MS fail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720840" y="3328416"/>
            <a:ext cx="4160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1B2633"/>
                </a:solidFill>
              </a:rPr>
              <a:t>Coverage Blindness: code được chạy nhưng không bắt lỗi tốt.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6446520" y="3950208"/>
            <a:ext cx="480060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46520" y="3950208"/>
            <a:ext cx="109728" cy="786384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406908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F2742"/>
                </a:solidFill>
              </a:rPr>
              <a:t>Double Negative</a:t>
            </a:r>
            <a:endParaRPr lang="en-US" sz="1030" dirty="0"/>
          </a:p>
        </p:txBody>
      </p:sp>
      <p:sp>
        <p:nvSpPr>
          <p:cNvPr id="22" name="Text 19"/>
          <p:cNvSpPr/>
          <p:nvPr/>
        </p:nvSpPr>
        <p:spPr>
          <a:xfrm>
            <a:off x="8595360" y="4069080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</a:rPr>
              <a:t>BC và MS fail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720840" y="4389120"/>
            <a:ext cx="4160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1B2633"/>
                </a:solidFill>
              </a:rPr>
              <a:t>Zero-shot GPT-4o-mini cần prompt hoặc feedback mạnh hơn.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proposal.md; rq-final.md</a:t>
            </a:r>
            <a:endParaRPr lang="en-US" sz="6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ĐỘ TIN CẬY NGHIÊN CỨU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Rủi Ro Về Độ Tin Cậy &amp; Cách Giảm Thiểu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Các Threats to Validity chính được nêu rõ và có cách xử lý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13232" y="173736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1920240"/>
            <a:ext cx="987552" cy="292608"/>
          </a:xfrm>
          <a:prstGeom prst="roundRect">
            <a:avLst>
              <a:gd name="adj" fmla="val 12500"/>
            </a:avLst>
          </a:prstGeom>
          <a:solidFill>
            <a:srgbClr val="0B6F73"/>
          </a:solidFill>
          <a:ln w="12700">
            <a:solidFill>
              <a:srgbClr val="0B6F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199339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Internal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2130552" y="19202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2742"/>
                </a:solidFill>
              </a:rPr>
              <a:t>Model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30552" y="23042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633"/>
                </a:solidFill>
              </a:rPr>
              <a:t>Cố định API model version và temperature = 0.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99632" y="173736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82512" y="1920240"/>
            <a:ext cx="987552" cy="292608"/>
          </a:xfrm>
          <a:prstGeom prst="roundRect">
            <a:avLst>
              <a:gd name="adj" fmla="val 12500"/>
            </a:avLst>
          </a:prstGeom>
          <a:solidFill>
            <a:srgbClr val="0B6F73"/>
          </a:solidFill>
          <a:ln w="12700">
            <a:solidFill>
              <a:srgbClr val="0B6F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5664" y="199339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External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7616952" y="19202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2742"/>
                </a:solidFill>
              </a:rPr>
              <a:t>Phạm vi dataset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16952" y="23042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633"/>
                </a:solidFill>
              </a:rPr>
              <a:t>Giới hạn kết luận ở standalone Java unit-level functions.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13232" y="342900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3611880"/>
            <a:ext cx="987552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368503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Construct</a:t>
            </a:r>
            <a:endParaRPr lang="en-US" sz="760" dirty="0"/>
          </a:p>
        </p:txBody>
      </p:sp>
      <p:sp>
        <p:nvSpPr>
          <p:cNvPr id="21" name="Text 19"/>
          <p:cNvSpPr/>
          <p:nvPr/>
        </p:nvSpPr>
        <p:spPr>
          <a:xfrm>
            <a:off x="2130552" y="36118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2742"/>
                </a:solidFill>
              </a:rPr>
              <a:t>Metric chưa đủ rộng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30552" y="39959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633"/>
                </a:solidFill>
              </a:rPr>
              <a:t>Báo cáo compile/pass status cùng với BC và MS.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99632" y="342900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82512" y="3611880"/>
            <a:ext cx="987552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368503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</a:rPr>
              <a:t>Conclusion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616952" y="36118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2742"/>
                </a:solidFill>
              </a:rPr>
              <a:t>N nhỏ / lỗi compile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16952" y="39959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633"/>
                </a:solidFill>
              </a:rPr>
              <a:t>Dùng N=50 và 1-round self-repair; báo cáo mẫu bị loại.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550468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F2742"/>
                </a:solidFill>
              </a:rPr>
              <a:t>Ý chính: kể cả kết quả âm tính vẫn có giá trị, vì GAP paired student-baseline hiện vẫn chưa được giải quyết.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proposal.md; gap-statement-final.md</a:t>
            </a:r>
            <a:endParaRPr lang="en-US" sz="6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KẾ HOẠCH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Timeline, Vai Trò &amp; Chi Phí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616F"/>
                </a:solidFill>
              </a:rPr>
              <a:t>Kế hoạch thực hiện gọn trong tuần 5-10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8105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F73"/>
                </a:solidFill>
              </a:rPr>
              <a:t>PL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4168" y="1828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2742"/>
                </a:solidFill>
              </a:rPr>
              <a:t>Khang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22960" y="217627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52616F"/>
                </a:solidFill>
              </a:rPr>
              <a:t>Tiến độ, review, blockers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2926080" y="164592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EAF7F7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063240" y="18105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F73"/>
                </a:solidFill>
              </a:rPr>
              <a:t>DG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84448" y="1828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2742"/>
                </a:solidFill>
              </a:rPr>
              <a:t>Phước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3063240" y="217627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52616F"/>
                </a:solidFill>
              </a:rPr>
              <a:t>Dataset và baseline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5166360" y="164592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03520" y="18105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F73"/>
                </a:solidFill>
              </a:rPr>
              <a:t>LR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824728" y="1828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2742"/>
                </a:solidFill>
              </a:rPr>
              <a:t>An Khang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303520" y="217627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52616F"/>
                </a:solidFill>
              </a:rPr>
              <a:t>API runner và logs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7406640" y="164592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EAF7F7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43800" y="18105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F73"/>
                </a:solidFill>
              </a:rPr>
              <a:t>MS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65008" y="1828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2742"/>
                </a:solidFill>
              </a:rPr>
              <a:t>Như Ý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7543800" y="217627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52616F"/>
                </a:solidFill>
              </a:rPr>
              <a:t>JaCoCo/PIT và thống kê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9646920" y="164592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784080" y="18105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F73"/>
                </a:solidFill>
              </a:rPr>
              <a:t>RW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305288" y="1828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2742"/>
                </a:solidFill>
              </a:rPr>
              <a:t>Vỹ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9784080" y="217627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52616F"/>
                </a:solidFill>
              </a:rPr>
              <a:t>Related work và báo cáo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777240" y="3886200"/>
            <a:ext cx="1874520" cy="676656"/>
          </a:xfrm>
          <a:prstGeom prst="roundRect">
            <a:avLst>
              <a:gd name="adj" fmla="val 6757"/>
            </a:avLst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" y="39959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FFFF"/>
                </a:solidFill>
              </a:rPr>
              <a:t>W5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941832" y="4261104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FFFFFF"/>
                </a:solidFill>
              </a:rPr>
              <a:t>Proposal + dataset + test API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3017520" y="3886200"/>
            <a:ext cx="1874520" cy="676656"/>
          </a:xfrm>
          <a:prstGeom prst="roundRect">
            <a:avLst>
              <a:gd name="adj" fmla="val 675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82112" y="39959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FFFF"/>
                </a:solidFill>
              </a:rPr>
              <a:t>W6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3182112" y="4261104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FFFFFF"/>
                </a:solidFill>
              </a:rPr>
              <a:t>Nộp proposal + bảo vệ gate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257800" y="3886200"/>
            <a:ext cx="1874520" cy="676656"/>
          </a:xfrm>
          <a:prstGeom prst="roundRect">
            <a:avLst>
              <a:gd name="adj" fmla="val 6757"/>
            </a:avLst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22392" y="39959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FFFF"/>
                </a:solidFill>
              </a:rPr>
              <a:t>W7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5422392" y="4261104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FFFFFF"/>
                </a:solidFill>
              </a:rPr>
              <a:t>Pilot run 10% mẫu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7498080" y="3886200"/>
            <a:ext cx="1874520" cy="676656"/>
          </a:xfrm>
          <a:prstGeom prst="roundRect">
            <a:avLst>
              <a:gd name="adj" fmla="val 6757"/>
            </a:avLst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62672" y="39959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FFFF"/>
                </a:solidFill>
              </a:rPr>
              <a:t>W8</a:t>
            </a:r>
            <a:endParaRPr lang="en-US" sz="1030" dirty="0"/>
          </a:p>
        </p:txBody>
      </p:sp>
      <p:sp>
        <p:nvSpPr>
          <p:cNvPr id="39" name="Text 37"/>
          <p:cNvSpPr/>
          <p:nvPr/>
        </p:nvSpPr>
        <p:spPr>
          <a:xfrm>
            <a:off x="7662672" y="4261104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FFFFFF"/>
                </a:solidFill>
              </a:rPr>
              <a:t>Full experiment + metrics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9738360" y="3886200"/>
            <a:ext cx="1874520" cy="676656"/>
          </a:xfrm>
          <a:prstGeom prst="roundRect">
            <a:avLst>
              <a:gd name="adj" fmla="val 6757"/>
            </a:avLst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02952" y="39959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FFFF"/>
                </a:solidFill>
              </a:rPr>
              <a:t>W9-10</a:t>
            </a:r>
            <a:endParaRPr lang="en-US" sz="1030" dirty="0"/>
          </a:p>
        </p:txBody>
      </p:sp>
      <p:sp>
        <p:nvSpPr>
          <p:cNvPr id="42" name="Text 40"/>
          <p:cNvSpPr/>
          <p:nvPr/>
        </p:nvSpPr>
        <p:spPr>
          <a:xfrm>
            <a:off x="9902952" y="4261104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FFFFFF"/>
                </a:solidFill>
              </a:rPr>
              <a:t>Báo cáo cuối + presentation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7240" y="5230368"/>
            <a:ext cx="22860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05256" y="5349240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52616F"/>
                </a:solidFill>
              </a:rPr>
              <a:t>CHI PHÍ API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905256" y="5623560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~$1.33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905256" y="6035040"/>
            <a:ext cx="2029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2616F"/>
                </a:solidFill>
              </a:rPr>
              <a:t>khoảng 33,000 VND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3337560" y="55321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2616F"/>
                </a:solidFill>
              </a:rPr>
              <a:t>Chi phí ước tính gồm token input/output của gpt-4o-mini và phần dự phòng cho pilot + one-round repair.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proposal.md</a:t>
            </a:r>
            <a:endParaRPr lang="en-US" sz="6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A3A5"/>
          </a:solidFill>
          <a:ln w="12700">
            <a:solidFill>
              <a:srgbClr val="14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dirty="0">
                <a:solidFill>
                  <a:srgbClr val="0B6F73"/>
                </a:solidFill>
              </a:rPr>
              <a:t>Q&amp;A</a:t>
            </a:r>
            <a:endParaRPr lang="en-US" sz="780" dirty="0"/>
          </a:p>
        </p:txBody>
      </p:sp>
      <p:sp>
        <p:nvSpPr>
          <p:cNvPr id="4" name="Text 2"/>
          <p:cNvSpPr/>
          <p:nvPr/>
        </p:nvSpPr>
        <p:spPr>
          <a:xfrm>
            <a:off x="50292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F"/>
                </a:solidFill>
              </a:rPr>
              <a:t>SE1944 Nhóm 01 | RT-SWT-001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1140135" y="6473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F"/>
                </a:solidFill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7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Q&amp;A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F73"/>
                </a:solidFill>
              </a:rPr>
              <a:t>Câu hỏi phản biện dự kiến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9808" y="2395728"/>
            <a:ext cx="5074920" cy="1325880"/>
          </a:xfrm>
          <a:prstGeom prst="roundRect">
            <a:avLst>
              <a:gd name="adj" fmla="val 4138"/>
            </a:avLst>
          </a:prstGeom>
          <a:solidFill>
            <a:srgbClr val="FFF4D6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8072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742"/>
                </a:solidFill>
              </a:rPr>
              <a:t>"Vì sao nhóm chọn các ngưỡng 30.22% và 4.0%?"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261872"/>
            <a:ext cx="507492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sx="100000" sy="100000" kx="0" ky="0" algn="bl" rotWithShape="0" blurRad="12700" dist="50800" dir="2700000">
              <a:srgbClr val="CBD5E1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55448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742"/>
                </a:solidFill>
              </a:rPr>
              <a:t>Trả lời ngắn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029968"/>
            <a:ext cx="4370832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000" dirty="0">
                <a:solidFill>
                  <a:srgbClr val="1B2633"/>
                </a:solidFill>
              </a:rPr>
              <a:t>30.22% là average Branch Coverage trên benchmark ULT trong GS010.</a:t>
            </a:r>
            <a:pPr indent="0" marL="0">
              <a:buNone/>
            </a:pPr>
            <a:r>
              <a:rPr lang="en-US" sz="1000" dirty="0">
                <a:solidFill>
                  <a:srgbClr val="1B2633"/>
                </a:solidFill>
              </a:rPr>
              <a:t>
</a:t>
            </a:r>
            <a:endParaRPr lang="en-US" sz="1000" dirty="0"/>
          </a:p>
          <a:p>
            <a:r>
              <a:rPr lang="en-US" sz="1000" dirty="0">
                <a:solidFill>
                  <a:srgbClr val="1B2633"/>
                </a:solidFill>
              </a:rPr>
              <a:t>4.0% là mutation-score floor cảnh báo từ GS026: coverage cao vẫn có thể bắt lỗi logic rất yếu.</a:t>
            </a:r>
            <a:pPr indent="0" marL="0">
              <a:buNone/>
            </a:pPr>
            <a:r>
              <a:rPr lang="en-US" sz="1000" dirty="0">
                <a:solidFill>
                  <a:srgbClr val="1B2633"/>
                </a:solidFill>
              </a:rPr>
              <a:t>
</a:t>
            </a:r>
            <a:endParaRPr lang="en-US" sz="1000" dirty="0"/>
          </a:p>
          <a:p>
            <a:r>
              <a:rPr lang="en-US" sz="1000" dirty="0">
                <a:solidFill>
                  <a:srgbClr val="1B2633"/>
                </a:solidFill>
              </a:rPr>
              <a:t>40.21% là target Mutation Score từ GS010, dùng làm ngưỡng tham chiếu mạnh hơn.</a:t>
            </a:r>
            <a:pPr indent="0" marL="0">
              <a:buNone/>
            </a:pPr>
            <a:r>
              <a:rPr lang="en-US" sz="1000" dirty="0">
                <a:solidFill>
                  <a:srgbClr val="1B2633"/>
                </a:solidFill>
              </a:rPr>
              <a:t>
</a:t>
            </a:r>
            <a:endParaRPr lang="en-US" sz="1000" dirty="0"/>
          </a:p>
          <a:p>
            <a:r>
              <a:rPr lang="en-US" sz="1000" dirty="0">
                <a:solidFill>
                  <a:srgbClr val="1B2633"/>
                </a:solidFill>
              </a:rPr>
              <a:t>Các ngưỡng được chọn theo Case 2 trong barem RBL để bảo đảm cơ sở thực nghiệm.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489204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0B6F73"/>
                </a:solidFill>
              </a:rPr>
              <a:t>Backup: bảng Related Work đầy đủ trong evidence-table-merged.md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7589520" y="647395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40" dirty="0">
                <a:solidFill>
                  <a:srgbClr val="6B7280"/>
                </a:solidFill>
              </a:rPr>
              <a:t>Nguồn: slide_outline.md; evidence-table-merged.md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SE1944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Sinh Unit Test Tự Động Cho Hàm Java Dùng GPT-4o-mini</dc:title>
  <dc:subject>Bảo vệ đề cương nghiên cứu</dc:subject>
  <dc:creator>SE1944 Nhóm 01</dc:creator>
  <cp:lastModifiedBy>SE1944 Nhóm 01</cp:lastModifiedBy>
  <cp:revision>1</cp:revision>
  <dcterms:created xsi:type="dcterms:W3CDTF">2026-06-19T05:29:56Z</dcterms:created>
  <dcterms:modified xsi:type="dcterms:W3CDTF">2026-06-19T05:29:56Z</dcterms:modified>
</cp:coreProperties>
</file>