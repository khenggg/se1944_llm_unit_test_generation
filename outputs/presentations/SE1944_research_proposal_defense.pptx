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3F0"/>
                </a:solidFill>
              </a:rPr>
              <a:t>RT-SWT-001 | BẢO VỆ ĐỀ CƯƠNG NGHIÊN CỨU</a:t>
            </a:r>
            <a:endParaRPr lang="en-US" sz="1400" b="1" dirty="0">
              <a:solidFill>
                <a:srgbClr val="A8F3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303895" cy="5670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Sinh Unit Test Tự Động Cho Hàm Java</a:t>
            </a:r>
            <a:endParaRPr lang="en-US" sz="3600" b="1" dirty="0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830453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</a:rPr>
              <a:t>Dùng GPT-4o-mini: paired comparison với Student Benchmark Tests</a:t>
            </a:r>
            <a:endParaRPr lang="en-US" sz="2000" dirty="0">
              <a:solidFill>
                <a:srgbClr val="DBEAFE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77647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PL  Lê Thế Khang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926080" y="370332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377647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DG  Huỳnh Cao Phước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57800" y="370332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377647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LR  Phạm An Khang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27939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MS  Nguyễn Thị Như Ý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26080" y="420624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427939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RW  Đỗ Long Vỹ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1FAE5"/>
                </a:solidFill>
              </a:rPr>
              <a:t>SE1944 - Nhóm 01</a:t>
            </a:r>
            <a:endParaRPr lang="en-US" b="1" dirty="0">
              <a:solidFill>
                <a:srgbClr val="D1FAE5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539496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Ngày bảo vệ: cập nhật theo lịch thực tế</a:t>
            </a:r>
            <a:endParaRPr lang="en-US" sz="1200" dirty="0">
              <a:solidFill>
                <a:srgbClr val="CBD5E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6492240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HumanEval-Java | GPT-4o-mini | JaCoCo + PIT | Wilcoxon + Binomial</a:t>
            </a:r>
            <a:endParaRPr lang="en-US" sz="10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02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21335" y="548513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Vấn Đề Nghiên Cứu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2616F"/>
                </a:solidFill>
              </a:rPr>
              <a:t>Vì sao Branch Coverage chưa đủ để đánh giá unit test do LLM sinh ra?</a:t>
            </a:r>
            <a:endParaRPr lang="en-US" sz="16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3401568" cy="3429000"/>
          </a:xfrm>
          <a:prstGeom prst="roundRect">
            <a:avLst>
              <a:gd name="adj" fmla="val 1613"/>
            </a:avLst>
          </a:prstGeom>
          <a:solidFill>
            <a:srgbClr val="EAF1FA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" y="19385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Bối cảnh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" y="2450592"/>
            <a:ext cx="2926080" cy="18745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Viết unit test thủ công tốn thời gian và dễ bỏ sót edge cases.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LLM test generation là hướng SOTA giúp tự động hóa một phần quy trình kiểm thử.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719072"/>
            <a:ext cx="3401568" cy="3429000"/>
          </a:xfrm>
          <a:prstGeom prst="roundRect">
            <a:avLst>
              <a:gd name="adj" fmla="val 1613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16552" y="19385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Hiện trạng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53128" y="2450592"/>
            <a:ext cx="2926080" cy="18745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GPT-4, LLaMA-3 và GPT-4o-mini đã cho thấy khả năng sinh test khá tốt.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Nhưng coverage cao không đồng nghĩa với fault detection tốt.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1719072"/>
            <a:ext cx="3401568" cy="3429000"/>
          </a:xfrm>
          <a:prstGeom prst="roundRect">
            <a:avLst>
              <a:gd name="adj" fmla="val 1613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5592" y="19385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Research GAP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02168" y="2450592"/>
            <a:ext cx="2926080" cy="18745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GAP-D: thiếu paired comparison giữa GPT-4o-mini và Student Benchmark trên cùng HumanEval-Java functions.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GAP-M: cần dùng Mutation Score bên cạnh Branch Coverage để tránh đánh giá lệch.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5513832"/>
            <a:ext cx="11155680" cy="56692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5696712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Ý nghĩa: cần cơ sở khoa học để biết AI hỗ trợ được sinh viên đến mức nào trước khi dùng trong học tập hoặc chấm bài.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gap-statement-final.md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16F"/>
                </a:solidFill>
              </a:rPr>
              <a:t>SE1944 Nhóm 01 | RT-SWT-001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03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8872855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Quan Related Work &amp; GAP Mapping</a:t>
            </a:r>
            <a:endParaRPr lang="en-US" sz="28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Bảng bằng chứng gộp: N = 39 papers sau khi loại trùng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" y="17190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SỐ PAPER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22376" y="199339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39</a:t>
            </a:r>
            <a:endParaRPr lang="en-US" sz="20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22376" y="2404872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2616F"/>
                </a:solidFill>
              </a:rPr>
              <a:t>paper đã tổng hợp</a:t>
            </a:r>
            <a:endParaRPr lang="en-US" sz="88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44368" y="160020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2384" y="17190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GAP-D CHÍNH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72384" y="199339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64545"/>
                </a:solidFill>
              </a:rPr>
              <a:t>0</a:t>
            </a:r>
            <a:endParaRPr lang="en-US" sz="2000" b="1" dirty="0">
              <a:solidFill>
                <a:srgbClr val="D6454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72130" y="2404745"/>
            <a:ext cx="1972945" cy="1098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2616F"/>
                </a:solidFill>
              </a:rPr>
              <a:t>paper làm paired Java student baseline</a:t>
            </a:r>
            <a:endParaRPr lang="en-US" sz="88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94376" y="160020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22392" y="17190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GAP-M PHỤ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22392" y="199339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12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22392" y="2404872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2616F"/>
                </a:solidFill>
              </a:rPr>
              <a:t>paper ủng hộ dùng 2 metric</a:t>
            </a:r>
            <a:endParaRPr lang="en-US" sz="880" dirty="0">
              <a:solidFill>
                <a:srgbClr val="52616F"/>
              </a:solidFill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94360" y="2971800"/>
          <a:ext cx="9875520" cy="2862072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3886200"/>
                <a:gridCol w="36576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ID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Paper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Bằng chứng chính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Hạn chế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005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Al-Tse'23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TestPilot: 52.8% Branch Coverage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Không đo Mutation Score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010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Huang'26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ULT: 30.22% BC, 40.21% MS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Chưa có paired baseline với sinh viên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019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Multi-Agent'26</a:t>
                      </a:r>
                      <a:endParaRPr lang="en-US" alt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T</a:t>
                      </a:r>
                      <a:r>
                        <a:rPr lang="" altLang="en-US" sz="1200" dirty="0">
                          <a:solidFill>
                            <a:srgbClr val="1B2633"/>
                          </a:solidFill>
                        </a:rPr>
                        <a:t>ư</a:t>
                      </a: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ơng </a:t>
                      </a:r>
                      <a:r>
                        <a:rPr lang="" altLang="en-US" sz="1200" dirty="0">
                          <a:solidFill>
                            <a:srgbClr val="1B2633"/>
                          </a:solidFill>
                        </a:rPr>
                        <a:t>đư</a:t>
                      </a: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ơng test case sinh viên</a:t>
                      </a:r>
                      <a:endParaRPr lang="en-US" alt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Trễ và tốn API token</a:t>
                      </a:r>
                      <a:endParaRPr lang="en-US" alt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024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AgoneTest'25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Có đánh giá GPT-4o-mini trên Java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Compile ban đầu còn thấp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026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MutGen'26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100% coverage vẫn có thể chỉ 4% MS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Mutation feedback tốn tài nguyên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evidence-table-merged.md; gap-statement-final.md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04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106375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Bốn Câu Hỏi Nghiên Cứu (Research Questions)</a:t>
            </a:r>
            <a:endParaRPr lang="en-US" sz="30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Đánh giá theo ngưỡng, paired comparison và độ tin cậy kép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929384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RQ1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627632" y="190195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Branch Coverage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627632" y="2221992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Trung vị BC-AI &gt;= 30.22%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27632" y="2633472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One-sample Wilcoxon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929384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RQ2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14032" y="190195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Mutation Score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14032" y="2221992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Trung vị MS-AI &gt;= 4.0% sàn và &gt;= 40.21% mục tiêu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14032" y="2633472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One-sample Wilcoxon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3630168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EAF1FA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392" y="3867912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RQ3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27632" y="38404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AI vs Student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27632" y="416052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So sánh paired BC/MS trên cùng hàm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27632" y="4572000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Paired Wilcoxon, two-tailed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3867912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RQ4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14032" y="38404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Độ tin cậy kép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14032" y="416052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BC &gt;= 30.22% và MS &gt;= 4.0% cho &gt;50% số hàm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14032" y="4572000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Exact Binomial Test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505" y="5715000"/>
            <a:ext cx="11205210" cy="255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Đóng góp chính: cùng 50 hàm được đo hai lần - test do GPT-4o-mini sinh và Student Benchmark test - bằng cùng pipeline JaCoCo/PIT.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rq-final.md; hypotheses-draft.md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05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Thực Nghiệm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Sáu bước tự động từ lọc dataset đến kiểm định thống kê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" y="2313432"/>
            <a:ext cx="2194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73"/>
                </a:solidFill>
              </a:rPr>
              <a:t>1</a:t>
            </a:r>
            <a:endParaRPr lang="en-US" sz="1400" b="1" dirty="0">
              <a:solidFill>
                <a:srgbClr val="0B6F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2295144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2742"/>
                </a:solidFill>
              </a:rPr>
              <a:t>Lọc Dataset</a:t>
            </a:r>
            <a:endParaRPr lang="en-US" sz="10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41832" y="25786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2616F"/>
                </a:solidFill>
              </a:rPr>
              <a:t>N=50; CC 5-16</a:t>
            </a:r>
            <a:endParaRPr lang="en-US" sz="92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04872" y="335153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3593592"/>
            <a:ext cx="2194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73"/>
                </a:solidFill>
              </a:rPr>
              <a:t>2</a:t>
            </a:r>
            <a:endParaRPr lang="en-US" sz="1400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43530" y="3575050"/>
            <a:ext cx="936625" cy="146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2742"/>
                </a:solidFill>
              </a:rPr>
              <a:t>LLM Prompting</a:t>
            </a:r>
            <a:endParaRPr lang="en-US" sz="1000" b="1" dirty="0">
              <a:solidFill>
                <a:srgbClr val="0F274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66009" y="3841623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2616F"/>
                </a:solidFill>
              </a:rPr>
              <a:t>GPT-4o-mini; temp=0</a:t>
            </a:r>
            <a:endParaRPr lang="en-US" sz="92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6824" y="214884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16552" y="2313432"/>
            <a:ext cx="2194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73"/>
                </a:solidFill>
              </a:rPr>
              <a:t>3</a:t>
            </a:r>
            <a:endParaRPr lang="en-US" sz="1400" b="1" dirty="0">
              <a:solidFill>
                <a:srgbClr val="0B6F7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5736" y="2295144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2742"/>
                </a:solidFill>
              </a:rPr>
              <a:t>Hậu xử lý</a:t>
            </a:r>
            <a:endParaRPr lang="en-US" sz="1000" b="1" dirty="0">
              <a:solidFill>
                <a:srgbClr val="0F274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45736" y="25786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2616F"/>
                </a:solidFill>
              </a:rPr>
              <a:t>Tách code JUnit 4</a:t>
            </a:r>
            <a:endParaRPr lang="en-US" sz="920" dirty="0">
              <a:solidFill>
                <a:srgbClr val="52616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8776" y="342900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3593592"/>
            <a:ext cx="2194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73"/>
                </a:solidFill>
              </a:rPr>
              <a:t>4</a:t>
            </a:r>
            <a:endParaRPr lang="en-US" sz="1400" b="1" dirty="0">
              <a:solidFill>
                <a:srgbClr val="0B6F7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90665" y="3611880"/>
            <a:ext cx="1144905" cy="146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2742"/>
                </a:solidFill>
              </a:rPr>
              <a:t>Compile + Repair</a:t>
            </a:r>
            <a:endParaRPr lang="en-US" sz="1000" b="1" dirty="0">
              <a:solidFill>
                <a:srgbClr val="0F274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37960" y="3938905"/>
            <a:ext cx="1097280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2616F"/>
                </a:solidFill>
              </a:rPr>
              <a:t>Maven; sửa 1 vòng</a:t>
            </a:r>
            <a:endParaRPr lang="en-US" sz="920" dirty="0">
              <a:solidFill>
                <a:srgbClr val="52616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10728" y="214884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0456" y="2313432"/>
            <a:ext cx="2194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73"/>
                </a:solidFill>
              </a:rPr>
              <a:t>5</a:t>
            </a:r>
            <a:endParaRPr lang="en-US" sz="1400" b="1" dirty="0">
              <a:solidFill>
                <a:srgbClr val="0B6F7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49640" y="2295144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2742"/>
                </a:solidFill>
              </a:rPr>
              <a:t>Đo metric</a:t>
            </a:r>
            <a:endParaRPr lang="en-US" sz="1000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49640" y="25786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2616F"/>
                </a:solidFill>
              </a:rPr>
              <a:t>JaCoCo + PIT</a:t>
            </a:r>
            <a:endParaRPr lang="en-US" sz="920" dirty="0">
              <a:solidFill>
                <a:srgbClr val="52616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012680" y="342900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22408" y="3593592"/>
            <a:ext cx="2194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73"/>
                </a:solidFill>
              </a:rPr>
              <a:t>6</a:t>
            </a:r>
            <a:endParaRPr lang="en-US" sz="1400" b="1" dirty="0">
              <a:solidFill>
                <a:srgbClr val="0B6F7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51592" y="3575304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2742"/>
                </a:solidFill>
              </a:rPr>
              <a:t>Thống kê</a:t>
            </a:r>
            <a:endParaRPr lang="en-US" sz="1000" b="1" dirty="0">
              <a:solidFill>
                <a:srgbClr val="0F274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313035" y="3900805"/>
            <a:ext cx="1046480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2616F"/>
                </a:solidFill>
              </a:rPr>
              <a:t>scipy Wilcoxon/Binomial</a:t>
            </a:r>
            <a:endParaRPr lang="en-US" sz="920" dirty="0">
              <a:solidFill>
                <a:srgbClr val="52616F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285232"/>
            <a:ext cx="10561320" cy="50292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449824"/>
            <a:ext cx="1019556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Quy tắc lỗi: test vẫn fail sau 1 vòng repair sẽ nhận 0% coverage và 0% mutation score, nhưng vẫn báo riêng compile status.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setup_experiment.py; generate_gpt_tests.py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06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96774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HumanEval-Java &amp; Student Baseline</a:t>
            </a:r>
            <a:endParaRPr lang="en-US" sz="30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Thiết kế paired comparison có kiểm soát trên cùng các hàm Java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837944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BENCHMARK GỐC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13816" y="2112264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163</a:t>
            </a:r>
            <a:endParaRPr lang="en-US" sz="20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13816" y="2523744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2616F"/>
                </a:solidFill>
              </a:rPr>
              <a:t>hàm Java</a:t>
            </a:r>
            <a:endParaRPr lang="en-US" sz="78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3240" y="1719072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837944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MẪU CHỌN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91256" y="2112264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50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91256" y="2523744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2616F"/>
                </a:solidFill>
              </a:rPr>
              <a:t>CC từ 5 đến 16</a:t>
            </a:r>
            <a:endParaRPr lang="en-US" sz="78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40680" y="1719072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68696" y="1837944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SO SÁNH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68696" y="2112264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2x</a:t>
            </a:r>
            <a:endParaRPr lang="en-US" sz="2000" b="1" dirty="0">
              <a:solidFill>
                <a:srgbClr val="F59E0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68696" y="2523744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2616F"/>
                </a:solidFill>
              </a:rPr>
              <a:t>AI test vs Student test</a:t>
            </a:r>
            <a:endParaRPr lang="en-US" sz="780" dirty="0">
              <a:solidFill>
                <a:srgbClr val="52616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456432"/>
            <a:ext cx="4937760" cy="1645920"/>
          </a:xfrm>
          <a:prstGeom prst="roundRect">
            <a:avLst>
              <a:gd name="adj" fmla="val 3333"/>
            </a:avLst>
          </a:prstGeom>
          <a:solidFill>
            <a:srgbClr val="EAF1FA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6576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Vì sao chọn mẫu này?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005072"/>
            <a:ext cx="4297680" cy="8046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Các hàm thuật toán, chuỗi và toán học khá độc lập.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CC 5-16 tránh hàm quá dễ nhưng vẫn đủ khả thi.
</a:t>
            </a:r>
            <a:endParaRPr lang="en-US" sz="1000" dirty="0"/>
          </a:p>
          <a:p>
            <a:r>
              <a:rPr lang="en-US" sz="1000" dirty="0">
                <a:solidFill>
                  <a:srgbClr val="1B2633"/>
                </a:solidFill>
              </a:rPr>
              <a:t>Repo local đã có correct Java code và benchmark tests.</a:t>
            </a:r>
            <a:endParaRPr lang="en-US" sz="1000" dirty="0">
              <a:solidFill>
                <a:srgbClr val="1B263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3456432"/>
            <a:ext cx="5120640" cy="1645920"/>
          </a:xfrm>
          <a:prstGeom prst="roundRect">
            <a:avLst>
              <a:gd name="adj" fmla="val 3333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65760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Thiết kế paired baseline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4005072"/>
            <a:ext cx="4434840" cy="8046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Student Benchmark tests được đo trên đúng cùng target functions.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Cả hai test suite dùng chung Maven, JaCoCo và PIT pipeline.
</a:t>
            </a:r>
            <a:endParaRPr lang="en-US" sz="1000" dirty="0"/>
          </a:p>
          <a:p>
            <a:r>
              <a:rPr lang="en-US" sz="1000" dirty="0">
                <a:solidFill>
                  <a:srgbClr val="1B2633"/>
                </a:solidFill>
              </a:rPr>
              <a:t>RQ3 dùng chênh lệch paired, không chỉ so sánh trung bình tổng.</a:t>
            </a:r>
            <a:endParaRPr lang="en-US" sz="1000" dirty="0">
              <a:solidFill>
                <a:srgbClr val="1B26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human-eval-java; proposal.md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07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Cấu Hình LLM &amp; Đo Lường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Sinh test có tính tái lập, công cụ cố định, ground truth tự động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96596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Sinh test bằng LLM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2468880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MODEL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4560" y="245059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gpt-4o-mini-2024-07-18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1832" y="2734056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94436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TEMPERATURE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0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1832" y="3209544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4198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TOP_P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94560" y="340156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1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1832" y="3685032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895344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MAX_TOKENS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3877056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2000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1832" y="4160520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3708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PROMPTING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94560" y="435254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Zero-shot prompt có cấu trúc cho JUnit 4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41832" y="4636008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73736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96596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Đo lường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2468880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BRANCH COVERAGE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80960" y="245059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JaCoCo v0.8.7+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28232" y="2734056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294436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MUTATION SCORE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80960" y="2926080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PIT / PiTest v1.7.4+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28232" y="3209544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4198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MUTATORS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80960" y="340156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DEFAULTS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28232" y="3685032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895344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GROUND TRUTH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80960" y="3877056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mã Java trong humaneval.correct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28232" y="4160520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43708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IAA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7680960" y="435254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Không áp dụng: đo bằng metric tự động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28232" y="4636008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715000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Điểm neo tái lập: cố định model version, prompt template, temperature, raw outputs, compile logs và metric CSV có timestamp.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test_api.py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08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Cách Diễn Giải Kết Quả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Chỉ reject H0 khi p-value đạt và metric đi đúng hướng mong đợi</a:t>
            </a:r>
            <a:endParaRPr lang="en-US" sz="1400" dirty="0">
              <a:solidFill>
                <a:srgbClr val="52616F"/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85800" y="1974723"/>
          <a:ext cx="5212080" cy="3429000"/>
        </p:xfrm>
        <a:graphic>
          <a:graphicData uri="http://schemas.openxmlformats.org/drawingml/2006/table">
            <a:tbl>
              <a:tblPr/>
              <a:tblGrid>
                <a:gridCol w="685800"/>
                <a:gridCol w="1600200"/>
                <a:gridCol w="292608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RQ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Tiêu chí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Reject H0 khi...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RQ1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BC &gt;= 30.22%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median &gt;= ngưỡng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RQ2a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MS &gt;= 4.0%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median &gt;= ngưỡng sàn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RQ2b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MS &gt;= 40.21%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median &gt;= mục tiêu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RQ3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AI vs Student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cho chênh lệch paired BC/MS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RQ4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Dual success &gt; 50%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tỷ lệ mẫu &gt; 50%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6446520" y="2139315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39315"/>
            <a:ext cx="109728" cy="786384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258187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Double Positive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8595360" y="2258187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4A148"/>
                </a:solidFill>
              </a:rPr>
              <a:t>BC và MS đạt</a:t>
            </a:r>
            <a:endParaRPr lang="en-US" sz="1050" b="1" dirty="0">
              <a:solidFill>
                <a:srgbClr val="24A148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720840" y="2578227"/>
            <a:ext cx="41605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B2633"/>
                </a:solidFill>
              </a:rPr>
              <a:t>AI tests mạnh cả về cấu trúc và logic.</a:t>
            </a:r>
            <a:endParaRPr lang="en-US" sz="980" dirty="0">
              <a:solidFill>
                <a:srgbClr val="1B2633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46520" y="3200019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3200019"/>
            <a:ext cx="10972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318891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Mixed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95360" y="3318891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BC đạt, MS fail</a:t>
            </a:r>
            <a:endParaRPr lang="en-US" sz="1050" b="1" dirty="0">
              <a:solidFill>
                <a:srgbClr val="F59E0B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720840" y="3638931"/>
            <a:ext cx="41605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B2633"/>
                </a:solidFill>
              </a:rPr>
              <a:t>Coverage Blindness: code được chạy nhưng không bắt lỗi tốt.</a:t>
            </a:r>
            <a:endParaRPr lang="en-US" sz="980" dirty="0">
              <a:solidFill>
                <a:srgbClr val="1B2633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446520" y="4260723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4260723"/>
            <a:ext cx="109728" cy="78638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4379595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Double Negative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8595360" y="4379595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64545"/>
                </a:solidFill>
              </a:rPr>
              <a:t>BC và MS fail</a:t>
            </a:r>
            <a:endParaRPr lang="en-US" sz="1050" b="1" dirty="0">
              <a:solidFill>
                <a:srgbClr val="D64545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20840" y="4699635"/>
            <a:ext cx="41605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B2633"/>
                </a:solidFill>
              </a:rPr>
              <a:t>Zero-shot GPT-4o-mini cần prompt hoặc feedback mạnh hơn.</a:t>
            </a:r>
            <a:endParaRPr lang="en-US" sz="980" dirty="0">
              <a:solidFill>
                <a:srgbClr val="1B2633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rq-final.md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09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10456545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Rủi Ro Về Độ Tin Cậy &amp; Cách Giảm Thiểu</a:t>
            </a:r>
            <a:endParaRPr lang="en-US" sz="30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Các Threats to Validity chính được nêu rõ và có cách xử lý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17373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2024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0B6F73"/>
          </a:solidFill>
          <a:ln w="12700">
            <a:solidFill>
              <a:srgbClr val="0B6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99339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Internal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130552" y="192024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Model drift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30552" y="2304288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Cố định API model version và temperature = 0.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2024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0B6F73"/>
          </a:solidFill>
          <a:ln w="12700">
            <a:solidFill>
              <a:srgbClr val="0B6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99339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External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16952" y="192024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Phạm vi dataset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16825" y="2304415"/>
            <a:ext cx="327914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Giới hạn kết luận ở standalone Java unit-level functions.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" y="342900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361188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68503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Construct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30552" y="361188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Metric chưa đủ rộng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30552" y="3995928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Báo cáo compile/pass status cùng với BC và MS.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342900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61188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68503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Conclusion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16952" y="361188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N nhỏ / lỗi compile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16825" y="3996055"/>
            <a:ext cx="294386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Dùng N=50 và 1-round self-repair; báo cáo mẫu bị loại.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5504688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2"/>
                </a:solidFill>
              </a:rPr>
              <a:t>Ý chính: kể cả kết quả âm tính vẫn có giá trị, vì GAP paired student-baseline hiện vẫn chưa được giải quyết.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gap-statement-final.md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10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Timeline, Vai Trò &amp; Chi Phí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Kế hoạch thực hiện gọn trong tuần 5-10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PL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844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Khang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Tiến độ, review, blockers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8036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DG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3872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Phước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Dataset và baseline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2064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LR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7900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An Khang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5780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API runner và logs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6092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MS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1928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Như Ý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JaCoCo/PIT và thống kê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0120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3836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RW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5956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Vỹ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3836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Related work và báo cáo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W5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183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Proposal + dataset + test API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01752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W6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8211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Nộp proposal + bảo vệ gate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5780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W7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2239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Pilot run 10% mẫu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W8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6267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Full experiment + metrics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73836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0295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W9-10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990295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Báo cáo cuối + presentation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77240" y="5230368"/>
            <a:ext cx="2286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05256" y="5349240"/>
            <a:ext cx="20299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52616F"/>
                </a:solidFill>
              </a:rPr>
              <a:t>CHI PHÍ API</a:t>
            </a:r>
            <a:endParaRPr lang="en-US" sz="950" b="1" dirty="0">
              <a:solidFill>
                <a:srgbClr val="52616F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904621" y="5568950"/>
            <a:ext cx="20299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~$1.33</a:t>
            </a:r>
            <a:endParaRPr lang="en-US" sz="2400" b="1" dirty="0">
              <a:solidFill>
                <a:srgbClr val="F59E0B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905256" y="6035040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i="1" dirty="0">
                <a:solidFill>
                  <a:srgbClr val="52616F"/>
                </a:solidFill>
              </a:rPr>
              <a:t>khoảng 33,000 VND</a:t>
            </a:r>
            <a:endParaRPr lang="en-US" sz="1100" b="1" i="1" dirty="0">
              <a:solidFill>
                <a:srgbClr val="52616F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3312795" y="5513705"/>
            <a:ext cx="830008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Chi phí ước tính gồm token input/output của gpt-4o-mini và phần dự phòng cho pilot + one-round repair.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B6F73"/>
                </a:solidFill>
              </a:rPr>
              <a:t>Q&amp;A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11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190627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Câu hỏi phản biện dự kiến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49808" y="2395728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8275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742"/>
                </a:solidFill>
              </a:rPr>
              <a:t>"Vì sao nhóm chọn các ngưỡng 30.22% và 4.0%?"</a:t>
            </a:r>
            <a:endParaRPr lang="en-US" sz="2000" b="1" dirty="0">
              <a:solidFill>
                <a:srgbClr val="0F274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261745"/>
            <a:ext cx="521335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554480"/>
            <a:ext cx="169037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Trả lời ngắn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60" y="2272030"/>
            <a:ext cx="4490085" cy="2103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30.22% là average Branch Coverage trên benchmark ULT trong GS010.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4.0% là mutation-score floor cảnh báo từ GS026: coverage cao vẫn có thể bắt lỗi logic rất yếu.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40.21% là target Mutation Score từ GS010, dùng làm ngưỡng tham chiếu mạnh hơn.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Các ngưỡng được chọn theo Case 2 trong barem RBL để bảo đảm cơ sở thực nghiệm.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4320540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B6F73"/>
                </a:solidFill>
              </a:rPr>
              <a:t>Backup: bảng Related Work đầy đủ trong evidence-table-merged.md</a:t>
            </a:r>
            <a:endParaRPr lang="en-US" sz="1040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slide_outline.md; evidence-table-merged.md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6313</Words>
  <Application>WPS Presentation</Application>
  <PresentationFormat>On-screen Show (16:9)</PresentationFormat>
  <Paragraphs>504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Aptos Display</vt:lpstr>
      <vt:lpstr>Segoe UI</vt:lpstr>
      <vt:lpstr>Aptos Display</vt:lpstr>
      <vt:lpstr>Aptos Display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SE1944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Unit Test Tự Động Cho Hàm Java Dùng GPT-4o-mini</dc:title>
  <dc:creator>SE1944 Nhóm 01</dc:creator>
  <dc:subject>Bảo vệ đề cương nghiên cứu</dc:subject>
  <cp:lastModifiedBy>Admin</cp:lastModifiedBy>
  <cp:revision>6</cp:revision>
  <dcterms:created xsi:type="dcterms:W3CDTF">2026-06-19T05:29:00Z</dcterms:created>
  <dcterms:modified xsi:type="dcterms:W3CDTF">2026-06-20T13:37:56Z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7C4F0C8F58C14015B29A8C2533640721_12</vt:lpwstr>
  </property>
</Properties>
</file>