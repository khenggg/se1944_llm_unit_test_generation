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3F0"/>
                </a:solidFill>
              </a:rPr>
              <a:t>RT-SWT-001 | BẢO VỆ ĐỀ CƯƠNG NGHIÊN CỨU</a:t>
            </a:r>
            <a:endParaRPr lang="en-US" sz="1400" b="1" dirty="0">
              <a:solidFill>
                <a:srgbClr val="A8F3F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303895" cy="5670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Sinh Unit Test Tự Động Cho Hàm Java</a:t>
            </a:r>
            <a:endParaRPr lang="en-US" sz="3600" b="1" dirty="0">
              <a:solidFill>
                <a:srgbClr val="FFFFFF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830453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</a:rPr>
              <a:t>Dùng GPT-4o-mini: paired comparison với Student Benchmark Tests</a:t>
            </a:r>
            <a:endParaRPr lang="en-US" sz="2000" dirty="0">
              <a:solidFill>
                <a:srgbClr val="DBEAFE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PL  Lê Thế Khang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92608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DG  Huỳnh Cao Phước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57800" y="370332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377647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LR  Phạm An Khang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94360" y="420624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27939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MS  Nguyễn Thị Như Ý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926080" y="4206240"/>
            <a:ext cx="2029968" cy="292608"/>
          </a:xfrm>
          <a:prstGeom prst="roundRect">
            <a:avLst>
              <a:gd name="adj" fmla="val 12500"/>
            </a:avLst>
          </a:prstGeom>
          <a:solidFill>
            <a:srgbClr val="164E63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4279392"/>
            <a:ext cx="1883664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RW  Đỗ Long Vỹ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1FAE5"/>
                </a:solidFill>
              </a:rPr>
              <a:t>SE1944 - Nhóm 01</a:t>
            </a:r>
            <a:endParaRPr lang="en-US" b="1" dirty="0">
              <a:solidFill>
                <a:srgbClr val="D1FAE5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539496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Ngày bảo vệ: 23/06/2026</a:t>
            </a:r>
            <a:endParaRPr lang="en-US" sz="1200" dirty="0">
              <a:solidFill>
                <a:srgbClr val="CBD5E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6492240"/>
            <a:ext cx="6309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HumanEval-Java | GPT-4o-mini | JaCoCo + PIT | Wilcoxon + Binomial</a:t>
            </a:r>
            <a:endParaRPr lang="en-US" sz="1000" b="1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02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21335" y="548513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Vấn Đề Nghiên Cứu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2616F"/>
                </a:solidFill>
              </a:rPr>
              <a:t>Vì sao Branch Coverage chưa đủ để đánh giá unit test do LLM sinh ra?</a:t>
            </a:r>
            <a:endParaRPr lang="en-US" sz="16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Bối cảnh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Viết unit test thủ công tốn thời gian và dễ bỏ sót edge cases.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LLM test generation là hướng SOTA giúp tự động hóa một phần quy trình kiểm thử.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25196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1655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Hiện trạng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5312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GPT-4, LLaMA-3 và GPT-4o-mini đã cho thấy khả năng sinh test khá tốt.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Nhưng coverage cao không đồng nghĩa với fault detection tốt.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01000" y="1719072"/>
            <a:ext cx="3401568" cy="3429000"/>
          </a:xfrm>
          <a:prstGeom prst="roundRect">
            <a:avLst>
              <a:gd name="adj" fmla="val 1613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65592" y="1938528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Research GAP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02168" y="2450592"/>
            <a:ext cx="2926080" cy="18745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GAP-D: thiếu paired comparison giữa GPT-4o-mini và Student Benchmark trên cùng HumanEval-Java functions.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GAP-M: cần dùng Mutation Score bên cạnh Branch Coverage để tránh đánh giá lệch.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" y="5513832"/>
            <a:ext cx="11155680" cy="566928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5696712"/>
            <a:ext cx="106984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Ý nghĩa: cần cơ sở khoa học để biết AI hỗ trợ được sinh viên đến mức nào trước khi dùng trong học tập hoặc chấm bài.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2616F"/>
                </a:solidFill>
              </a:rPr>
              <a:t>SE1944 Nhóm 01 | RT-SWT-001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03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8872855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Tổng Quan Related Work &amp; GAP Mapping</a:t>
            </a:r>
            <a:endParaRPr lang="en-US" sz="28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Bảng bằng chứng gộp: N = 39 papers sau khi loại trùng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594360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2376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SỐ PAPER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22376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39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22376" y="2404872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đã tổng hợp</a:t>
            </a:r>
            <a:endParaRPr lang="en-US" sz="88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44368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72384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GAP-D CHÍNH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72384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64545"/>
                </a:solidFill>
              </a:rPr>
              <a:t>0</a:t>
            </a:r>
            <a:endParaRPr lang="en-US" sz="2000" b="1" dirty="0">
              <a:solidFill>
                <a:srgbClr val="D64545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72130" y="2404745"/>
            <a:ext cx="1972945" cy="10985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làm paired Java student baseline</a:t>
            </a:r>
            <a:endParaRPr lang="en-US" sz="88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294376" y="1600200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22392" y="171907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GAP-M PHỤ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22392" y="1993392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12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22392" y="2404872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2616F"/>
                </a:solidFill>
              </a:rPr>
              <a:t>paper ủng hộ dùng 2 metric</a:t>
            </a:r>
            <a:endParaRPr lang="en-US" sz="880" dirty="0">
              <a:solidFill>
                <a:srgbClr val="52616F"/>
              </a:solidFill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94360" y="2971800"/>
          <a:ext cx="9875520" cy="2862072"/>
        </p:xfrm>
        <a:graphic>
          <a:graphicData uri="http://schemas.openxmlformats.org/drawingml/2006/table">
            <a:tbl>
              <a:tblPr/>
              <a:tblGrid>
                <a:gridCol w="914400"/>
                <a:gridCol w="1417320"/>
                <a:gridCol w="3886200"/>
                <a:gridCol w="365760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ID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Paper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Bằng chứng chính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Hạn chế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005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Al-Tse'23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TestPilot: 52.8% Branch Coverage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Không đo Mutation Score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010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Huang'26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ULT: 30.22% BC, 40.21% 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Chưa có paired baseline với sinh viên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019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Multi-Agent'26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T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ư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ơng 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đư</a:t>
                      </a: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ơng test case sinh viên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solidFill>
                            <a:srgbClr val="1B2633"/>
                          </a:solidFill>
                        </a:rPr>
                        <a:t>Trễ và tốn API token</a:t>
                      </a:r>
                      <a:endParaRPr lang="en-US" alt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024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AgoneTest'25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Có đánh giá GPT-4o-mini trên Java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Compile ban đầu còn thấp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026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MutGen'26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100% coverage vẫn có thể chỉ 4% 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Mutation feedback tốn tài nguyên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evidence-table-merged.md;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04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106375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Bốn Câu Hỏi Nghiên Cứu (Research Questions)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Đánh giá theo ngưỡng, paired comparison và độ tin cậy kép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916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1929384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RQ1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627632" y="190195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Branch Coverage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627632" y="2221992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Trung vị BC-AI &gt;= 30.22%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27632" y="2633472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One-sample Wilcoxon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6792" y="1929384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RQ2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14032" y="190195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Mutation Score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14032" y="2221992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Trung vị MS-AI &gt;= 4.0% sàn và &gt;= 40.21% mục tiêu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14032" y="2633472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One-sample Wilcoxon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" y="363016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0392" y="3867912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RQ3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627632" y="38404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AI vs Student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1627632" y="416052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So sánh paired BC/MS trên cùng hàm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27632" y="4572000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Paired Wilcoxon, two-tailed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3630168"/>
            <a:ext cx="49377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36792" y="3867912"/>
            <a:ext cx="530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RQ4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14032" y="384048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Độ tin cậy kép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14032" y="4160520"/>
            <a:ext cx="361188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BC &gt;= 30.22% và MS &gt;= 4.0% cho &gt;50% số hàm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14032" y="4572000"/>
            <a:ext cx="265176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b="1" dirty="0">
                <a:solidFill>
                  <a:srgbClr val="0B6F73"/>
                </a:solidFill>
              </a:rPr>
              <a:t>Exact Binomial Test</a:t>
            </a:r>
            <a:endParaRPr lang="en-US" sz="980" b="1" dirty="0">
              <a:solidFill>
                <a:srgbClr val="0B6F7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505" y="5715000"/>
            <a:ext cx="11205210" cy="25590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Đóng góp chính: cùng 50 hàm được đo hai lần - test do GPT-4o-mini sinh và Student Benchmark test - bằng cùng pipeline JaCoCo/PIT.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rq-final.md; hypotheses-draft.md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05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Thực Nghiệm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Sáu bước tự động từ lọc dataset đến kiểm định thống kê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09930" y="191579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9785" y="208026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1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93800" y="2103755"/>
            <a:ext cx="129222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Lọc Dataset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1193800" y="2498725"/>
            <a:ext cx="1230630" cy="2209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N=50; CC 5-16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86255" y="342201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96110" y="366395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2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25040" y="3645535"/>
            <a:ext cx="146367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LLM Prompting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25040" y="4075430"/>
            <a:ext cx="1230630" cy="2209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GPT-4o-mini; temp=0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13580" y="191579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3435" y="208026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3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09515" y="2104390"/>
            <a:ext cx="129222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Hậu xử lý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2510" y="2498725"/>
            <a:ext cx="1459230" cy="172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Tách code JUnit 4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590540" y="349948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99760" y="366395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4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995035" y="3685540"/>
            <a:ext cx="159956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Compile + Repair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10580" y="4114800"/>
            <a:ext cx="1476375" cy="2209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Maven; sửa 1 vòng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317865" y="191579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27720" y="208026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5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8825230" y="2105025"/>
            <a:ext cx="129222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Đo metric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8719820" y="2498725"/>
            <a:ext cx="1230630" cy="2209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JaCoCo + PIT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394190" y="3499485"/>
            <a:ext cx="2117090" cy="11709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504045" y="3663950"/>
            <a:ext cx="295275" cy="2209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6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942830" y="3695065"/>
            <a:ext cx="1292225" cy="19621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Thống kê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9609455" y="4110990"/>
            <a:ext cx="1793240" cy="2209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scipy Wilcoxon/Binomial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285232"/>
            <a:ext cx="10561320" cy="50292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5449824"/>
            <a:ext cx="10195560" cy="1371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Quy tắc lỗi: test vẫn fail sau 1 vòng repair sẽ nhận 0% coverage và 0% mutation score, nhưng vẫn báo riêng compile status.</a:t>
            </a:r>
            <a:endParaRPr lang="en-US" sz="1200" b="1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setup_experiment.py; generate_gpt_tests.py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06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967740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HumanEval-Java &amp; Student Baseline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Thiết kế paired comparison có kiểm soát trên cùng các hàm Java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1381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BENCHMARK GỐC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1381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F2742"/>
                </a:solidFill>
              </a:rPr>
              <a:t>163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81381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hàm Java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6324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MẪU CHỌN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9125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6F73"/>
                </a:solidFill>
              </a:rPr>
              <a:t>50</a:t>
            </a:r>
            <a:endParaRPr lang="en-US" sz="2000" b="1" dirty="0">
              <a:solidFill>
                <a:srgbClr val="0B6F73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9125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CC từ 5 đến 16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40680" y="1719072"/>
            <a:ext cx="21031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68696" y="1837944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dirty="0">
                <a:solidFill>
                  <a:srgbClr val="52616F"/>
                </a:solidFill>
              </a:rPr>
              <a:t>SO SÁNH</a:t>
            </a:r>
            <a:endParaRPr lang="en-US" sz="850" b="1" dirty="0">
              <a:solidFill>
                <a:srgbClr val="52616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568696" y="2112264"/>
            <a:ext cx="184708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2x</a:t>
            </a:r>
            <a:endParaRPr lang="en-US" sz="2000" b="1" dirty="0">
              <a:solidFill>
                <a:srgbClr val="F59E0B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68696" y="2523744"/>
            <a:ext cx="184708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52616F"/>
                </a:solidFill>
              </a:rPr>
              <a:t>AI test vs Student test</a:t>
            </a:r>
            <a:endParaRPr lang="en-US" sz="78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56432"/>
            <a:ext cx="4937760" cy="1645920"/>
          </a:xfrm>
          <a:prstGeom prst="roundRect">
            <a:avLst>
              <a:gd name="adj" fmla="val 3333"/>
            </a:avLst>
          </a:prstGeom>
          <a:solidFill>
            <a:srgbClr val="EAF1FA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365760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Vì sao chọn mẫu này?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4400" y="4005072"/>
            <a:ext cx="4297680" cy="8046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Các hàm thuật toán, chuỗi và toán học khá độc lập.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CC 5-16 tránh hàm quá dễ nhưng vẫn đủ khả thi.
</a:t>
            </a:r>
            <a:endParaRPr lang="en-US" sz="1000" dirty="0"/>
          </a:p>
          <a:p>
            <a:r>
              <a:rPr lang="en-US" sz="1000" dirty="0">
                <a:solidFill>
                  <a:srgbClr val="1B2633"/>
                </a:solidFill>
              </a:rPr>
              <a:t>Repo local đã có correct Java code và benchmark tests.</a:t>
            </a:r>
            <a:endParaRPr lang="en-US" sz="1000" dirty="0">
              <a:solidFill>
                <a:srgbClr val="1B263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3456432"/>
            <a:ext cx="5120640" cy="1645920"/>
          </a:xfrm>
          <a:prstGeom prst="roundRect">
            <a:avLst>
              <a:gd name="adj" fmla="val 3333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657600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Thiết kế paired baseline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4005072"/>
            <a:ext cx="4434840" cy="804672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Student Benchmark tests được đo trên đúng cùng target functions.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2633"/>
                </a:solidFill>
              </a:rPr>
              <a:t>Cả hai test suite dùng chung Maven, JaCoCo và PIT pipeline.
</a:t>
            </a:r>
            <a:endParaRPr lang="en-US" sz="1000" dirty="0"/>
          </a:p>
          <a:p>
            <a:r>
              <a:rPr lang="en-US" sz="1000" dirty="0">
                <a:solidFill>
                  <a:srgbClr val="1B2633"/>
                </a:solidFill>
              </a:rPr>
              <a:t>RQ3 dùng chênh lệch paired, không chỉ so sánh trung bình tổng.</a:t>
            </a:r>
            <a:endParaRPr lang="en-US" sz="1000" dirty="0">
              <a:solidFill>
                <a:srgbClr val="1B26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human-eval-java; proposal.md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07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Cấu Hình LLM &amp; Đo Lường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Sinh test có tính tái lập, công cụ cố định, ground truth tự động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73736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9659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Sinh test bằng LLM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246888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MODEL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4560" y="245059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gpt-4o-mini-2024-07-18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1832" y="2734056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94436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TEMPERATURE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0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1832" y="3209544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" y="34198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TOP_P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2194560" y="340156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1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41832" y="3685032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3895344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MAX_TOKENS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3877056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2000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41832" y="4160520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43708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PROMPTING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94560" y="435254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Zero-shot prompt có cấu trúc cho JUnit 4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41832" y="4636008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737360"/>
            <a:ext cx="507492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9659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2742"/>
                </a:solidFill>
              </a:rPr>
              <a:t>Đo lường</a:t>
            </a:r>
            <a:endParaRPr lang="en-US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28232" y="2468880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BRANCH COVERAGE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7680960" y="2450592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JaCoCo v0.8.7+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28232" y="2734056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232" y="294436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MUTATION SCORE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7680960" y="2926080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PIT / PiTest v1.7.4+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28232" y="3209544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4198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MUTATORS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80960" y="3401568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DEFAULTS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28232" y="3685032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895344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GROUND TRUTH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7680960" y="3877056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mã Java trong humaneval.correct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28232" y="4160520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4370832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b="1" dirty="0">
                <a:solidFill>
                  <a:srgbClr val="0B6F73"/>
                </a:solidFill>
              </a:rPr>
              <a:t>IAA</a:t>
            </a:r>
            <a:endParaRPr lang="en-US" sz="930" b="1" dirty="0">
              <a:solidFill>
                <a:srgbClr val="0B6F73"/>
              </a:solidFill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80960" y="4352544"/>
            <a:ext cx="3200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Không áp dụng: đo bằng metric tự động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28232" y="4636008"/>
            <a:ext cx="4480560" cy="0"/>
          </a:xfrm>
          <a:prstGeom prst="line">
            <a:avLst/>
          </a:prstGeom>
          <a:noFill/>
          <a:ln w="7620">
            <a:solidFill>
              <a:srgbClr val="DDE8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8680" y="5715000"/>
            <a:ext cx="103327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2"/>
                </a:solidFill>
              </a:rPr>
              <a:t>Điểm neo tái lập: cố định model version, prompt template, temperature, raw outputs, compile logs và metric CSV có timestamp.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test_api.py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08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Cách Diễn Giải Kết Quả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Chỉ reject H0 khi p-value đạt và metric đi đúng hướng mong đợi</a:t>
            </a:r>
            <a:endParaRPr lang="en-US" sz="1400" dirty="0">
              <a:solidFill>
                <a:srgbClr val="52616F"/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85800" y="1974723"/>
          <a:ext cx="5212080" cy="3429000"/>
        </p:xfrm>
        <a:graphic>
          <a:graphicData uri="http://schemas.openxmlformats.org/drawingml/2006/table">
            <a:tbl>
              <a:tblPr/>
              <a:tblGrid>
                <a:gridCol w="685800"/>
                <a:gridCol w="1600200"/>
                <a:gridCol w="292608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RQ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Tiêu chí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633"/>
                          </a:solidFill>
                        </a:rPr>
                        <a:t>Reject H0 khi...</a:t>
                      </a:r>
                      <a:endParaRPr lang="en-US" sz="1200" b="1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RQ1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BC &gt;= 30.22%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ngưỡng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RQ2a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MS &gt;= 4.0%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ngưỡng sàn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RQ2b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MS &gt;= 40.21%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median &gt;= mục tiêu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RQ3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AI vs Student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cho chênh lệch paired BC/MS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RQ4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Dual success &gt; 50%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633"/>
                          </a:solidFill>
                        </a:rPr>
                        <a:t>p &lt; 0.05 và tỷ lệ mẫu &gt; 50%</a:t>
                      </a:r>
                      <a:endParaRPr lang="en-US" sz="1200" dirty="0">
                        <a:solidFill>
                          <a:srgbClr val="1B2633"/>
                        </a:solidFill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6446520" y="2139315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2139315"/>
            <a:ext cx="109728" cy="786384"/>
          </a:xfrm>
          <a:prstGeom prst="rect">
            <a:avLst/>
          </a:prstGeom>
          <a:solidFill>
            <a:srgbClr val="24A148"/>
          </a:solidFill>
          <a:ln w="12700">
            <a:solidFill>
              <a:srgbClr val="24A14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2258187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Double Positive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8595360" y="2258187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24A148"/>
                </a:solidFill>
              </a:rPr>
              <a:t>BC và MS đạt</a:t>
            </a:r>
            <a:endParaRPr lang="en-US" sz="1050" b="1" dirty="0">
              <a:solidFill>
                <a:srgbClr val="24A148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20840" y="2578227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AI tests mạnh cả về cấu trúc và logic.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446520" y="3200019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3200019"/>
            <a:ext cx="109728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20840" y="3318891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Mixed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95360" y="3318891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BC đạt, MS fail</a:t>
            </a:r>
            <a:endParaRPr lang="en-US" sz="1050" b="1" dirty="0">
              <a:solidFill>
                <a:srgbClr val="F59E0B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720840" y="3638931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Coverage Blindness: code được chạy nhưng không bắt lỗi tốt.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446520" y="4260723"/>
            <a:ext cx="480060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446520" y="4260723"/>
            <a:ext cx="109728" cy="786384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20840" y="4379595"/>
            <a:ext cx="17373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2"/>
                </a:solidFill>
              </a:rPr>
              <a:t>Double Negative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8595360" y="4379595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64545"/>
                </a:solidFill>
              </a:rPr>
              <a:t>BC và MS fail</a:t>
            </a:r>
            <a:endParaRPr lang="en-US" sz="1050" b="1" dirty="0">
              <a:solidFill>
                <a:srgbClr val="D64545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20840" y="4699635"/>
            <a:ext cx="4160520" cy="12801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B2633"/>
                </a:solidFill>
              </a:rPr>
              <a:t>Zero-shot GPT-4o-mini cần prompt hoặc feedback mạnh hơn.</a:t>
            </a:r>
            <a:endParaRPr lang="en-US" sz="980" dirty="0">
              <a:solidFill>
                <a:srgbClr val="1B2633"/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rq-final.md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09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495"/>
            <a:ext cx="10456545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Rủi Ro Về Độ Tin Cậy &amp; Cách Giảm Thiểu</a:t>
            </a:r>
            <a:endParaRPr lang="en-US" sz="30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Các Threats to Validity chính được nêu rõ và có cách xử lý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13232" y="17373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92024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0B6F73"/>
          </a:solidFill>
          <a:ln w="12700">
            <a:solidFill>
              <a:srgbClr val="0B6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99339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Internal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2130552" y="192024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Model drift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30552" y="2304288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Cố định API model version và temperature = 0.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99632" y="173736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192024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0B6F73"/>
          </a:solidFill>
          <a:ln w="12700">
            <a:solidFill>
              <a:srgbClr val="0B6F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99339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External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16952" y="192024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Phạm vi dataset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16825" y="2304415"/>
            <a:ext cx="327914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Giới hạn kết luận ở standalone Java unit-level functions.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13232" y="342900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361188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368503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Construct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2130552" y="36118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Metric chưa đủ rộng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30552" y="3995928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Báo cáo compile/pass status cùng với BC và MS.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99632" y="3429000"/>
            <a:ext cx="498348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82512" y="3611880"/>
            <a:ext cx="987552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55664" y="3685032"/>
            <a:ext cx="84124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</a:rPr>
              <a:t>Conclusion</a:t>
            </a:r>
            <a:endParaRPr lang="en-US" sz="960" b="1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16952" y="3611880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N nhỏ / lỗi compile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16825" y="3996055"/>
            <a:ext cx="2943860" cy="23749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B2633"/>
                </a:solidFill>
              </a:rPr>
              <a:t>Dùng N=50 và 1-round self-repair; báo cáo mẫu bị loại.</a:t>
            </a:r>
            <a:endParaRPr lang="en-US" sz="1200" dirty="0">
              <a:solidFill>
                <a:srgbClr val="1B2633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5504688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2"/>
                </a:solidFill>
              </a:rPr>
              <a:t>Ý chính: kể cả kết quả âm tính vẫn có giá trị, vì GAP paired student-baseline hiện vẫn chưa được giải quyết.</a:t>
            </a:r>
            <a:endParaRPr lang="en-US" sz="1400" b="1" dirty="0">
              <a:solidFill>
                <a:srgbClr val="0F2742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proposal.md; gap-statement-final.md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10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Timeline, Vai Trò &amp; Chi Phí</a:t>
            </a:r>
            <a:endParaRPr lang="en-US" sz="3200" b="1" dirty="0">
              <a:solidFill>
                <a:srgbClr val="0F2742"/>
              </a:solidFill>
              <a:latin typeface="Aptos Display" pitchFamily="34" charset="0"/>
              <a:ea typeface="Aptos Display" pitchFamily="34" charset="-122"/>
              <a:cs typeface="Aptos Display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Kế hoạch thực hiện gọn trong tuần 5-10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PL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29844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Khang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Tiến độ, review, blockers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88036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01752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DG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3872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Phước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Dataset và baseline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12064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LR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7900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An Khang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5780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API runner và logs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36092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EAF7F7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MS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1928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Như Ý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JaCoCo/PIT và thống kê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01200" y="2038350"/>
            <a:ext cx="18288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38360" y="220294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6F73"/>
                </a:solidFill>
              </a:rPr>
              <a:t>RW</a:t>
            </a:r>
            <a:endParaRPr lang="en-US" b="1" dirty="0">
              <a:solidFill>
                <a:srgbClr val="0B6F7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59568" y="222123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F2742"/>
                </a:solidFill>
              </a:rPr>
              <a:t>Vỹ</a:t>
            </a:r>
            <a:endParaRPr lang="en-US" sz="1200" b="1" dirty="0">
              <a:solidFill>
                <a:srgbClr val="0F2742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38360" y="2568702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52616F"/>
                </a:solidFill>
              </a:rPr>
              <a:t>Related work và báo cáo</a:t>
            </a:r>
            <a:endParaRPr lang="en-US" sz="960" dirty="0">
              <a:solidFill>
                <a:srgbClr val="52616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W5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94183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Proposal + dataset + test API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01752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W6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8211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Nộp proposal + bảo vệ gate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25780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2239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W7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42239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Pilot run 10% mẫu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6267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W8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6267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Full experiment + metrics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738360" y="3703320"/>
            <a:ext cx="1874520" cy="676656"/>
          </a:xfrm>
          <a:prstGeom prst="roundRect">
            <a:avLst>
              <a:gd name="adj" fmla="val 6757"/>
            </a:avLst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902952" y="3813048"/>
            <a:ext cx="56692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W9-10</a:t>
            </a:r>
            <a:endParaRPr lang="en-US" sz="1400" b="1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/>
          <p:nvPr/>
        </p:nvSpPr>
        <p:spPr>
          <a:xfrm>
            <a:off x="9902952" y="4078224"/>
            <a:ext cx="1417320" cy="1188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FFFFFF"/>
                </a:solidFill>
              </a:rPr>
              <a:t>Báo cáo cuối + presentation</a:t>
            </a:r>
            <a:endParaRPr lang="en-US" sz="880" dirty="0">
              <a:solidFill>
                <a:srgbClr val="FFFFFF"/>
              </a:solidFill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77240" y="5230368"/>
            <a:ext cx="228600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05256" y="5349240"/>
            <a:ext cx="2029968" cy="1645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52616F"/>
                </a:solidFill>
              </a:rPr>
              <a:t>CHI PHÍ API</a:t>
            </a:r>
            <a:endParaRPr lang="en-US" sz="950" b="1" dirty="0">
              <a:solidFill>
                <a:srgbClr val="52616F"/>
              </a:solidFill>
            </a:endParaRPr>
          </a:p>
        </p:txBody>
      </p:sp>
      <p:sp>
        <p:nvSpPr>
          <p:cNvPr id="45" name="Text 43"/>
          <p:cNvSpPr/>
          <p:nvPr/>
        </p:nvSpPr>
        <p:spPr>
          <a:xfrm>
            <a:off x="904621" y="5568950"/>
            <a:ext cx="202996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</a:rPr>
              <a:t>~$1.33</a:t>
            </a:r>
            <a:endParaRPr lang="en-US" sz="2400" b="1" dirty="0">
              <a:solidFill>
                <a:srgbClr val="F59E0B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905256" y="6035040"/>
            <a:ext cx="2029968" cy="10972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b="1" i="1" dirty="0">
                <a:solidFill>
                  <a:srgbClr val="52616F"/>
                </a:solidFill>
              </a:rPr>
              <a:t>khoảng 33,000 VND</a:t>
            </a:r>
            <a:endParaRPr lang="en-US" sz="1100" b="1" i="1" dirty="0">
              <a:solidFill>
                <a:srgbClr val="52616F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3312795" y="5513705"/>
            <a:ext cx="8300085" cy="3473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2616F"/>
                </a:solidFill>
              </a:rPr>
              <a:t>Chi phí ước tính gồm token input/output của gpt-4o-mini và phần dự phòng cho pilot + one-round repair.</a:t>
            </a:r>
            <a:endParaRPr lang="en-US" sz="1400" dirty="0">
              <a:solidFill>
                <a:srgbClr val="52616F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proposal.md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4A3A5"/>
          </a:solidFill>
          <a:ln w="12700">
            <a:solidFill>
              <a:srgbClr val="14A3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0B6F73"/>
                </a:solidFill>
              </a:rPr>
              <a:t>Q&amp;A</a:t>
            </a:r>
            <a:endParaRPr lang="en-US" sz="78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017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616F"/>
                </a:solidFill>
              </a:rPr>
              <a:t>SE1944 Nhóm 01 | RT-SWT-001</a:t>
            </a:r>
            <a:endParaRPr lang="en-US" sz="950" dirty="0">
              <a:solidFill>
                <a:srgbClr val="52616F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1140135" y="6473952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2616F"/>
                </a:solidFill>
              </a:rPr>
              <a:t>11</a:t>
            </a:r>
            <a:endParaRPr lang="en-US" sz="1000" dirty="0">
              <a:solidFill>
                <a:srgbClr val="52616F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F274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49808" y="190627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6F73"/>
                </a:solidFill>
              </a:rPr>
              <a:t>Câu hỏi phản biện dự kiến</a:t>
            </a:r>
            <a:endParaRPr lang="en-US" sz="1600" b="1" dirty="0">
              <a:solidFill>
                <a:srgbClr val="0B6F73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49808" y="2395728"/>
            <a:ext cx="5074920" cy="1325880"/>
          </a:xfrm>
          <a:prstGeom prst="roundRect">
            <a:avLst>
              <a:gd name="adj" fmla="val 4138"/>
            </a:avLst>
          </a:prstGeom>
          <a:solidFill>
            <a:srgbClr val="FFF4D6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827528"/>
            <a:ext cx="457200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742"/>
                </a:solidFill>
              </a:rPr>
              <a:t>"Vì sao nhóm chọn các ngưỡng 30.22% và 4.0%?"</a:t>
            </a:r>
            <a:endParaRPr lang="en-US" sz="2000" b="1" dirty="0">
              <a:solidFill>
                <a:srgbClr val="0F2742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63640" y="1261745"/>
            <a:ext cx="521335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  <a:effectLst>
            <a:outerShdw blurRad="12700" dist="50800" dir="2700000" algn="bl" rotWithShape="0">
              <a:srgbClr val="CBD5E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554480"/>
            <a:ext cx="169037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742"/>
                </a:solidFill>
              </a:rPr>
              <a:t>Trả lời ngắn</a:t>
            </a:r>
            <a:endParaRPr lang="en-US" sz="1600" b="1" dirty="0">
              <a:solidFill>
                <a:srgbClr val="0F2742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37960" y="2272030"/>
            <a:ext cx="4490085" cy="2103120"/>
          </a:xfrm>
          <a:prstGeom prst="rect">
            <a:avLst/>
          </a:prstGeom>
          <a:noFill/>
        </p:spPr>
        <p:txBody>
          <a:bodyPr wrap="square" lIns="508" tIns="508" rIns="508" bIns="508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30.22% là average Branch Coverage trên benchmark ULT trong GS010.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4.0% là mutation-score floor cảnh báo từ GS026: coverage cao vẫn có thể bắt lỗi logic rất yếu.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633"/>
                </a:solidFill>
              </a:rPr>
              <a:t>40.21% là target Mutation Score từ GS010, dùng làm ngưỡng tham chiếu mạnh hơn.
</a:t>
            </a:r>
            <a:endParaRPr lang="en-US" sz="1400" dirty="0"/>
          </a:p>
          <a:p>
            <a:r>
              <a:rPr lang="en-US" sz="1400" dirty="0">
                <a:solidFill>
                  <a:srgbClr val="1B2633"/>
                </a:solidFill>
              </a:rPr>
              <a:t>Các ngưỡng được chọn theo Case 2 trong barem RBL để bảo đảm cơ sở thực nghiệm.</a:t>
            </a:r>
            <a:endParaRPr lang="en-US" sz="1400" dirty="0">
              <a:solidFill>
                <a:srgbClr val="1B2633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4320540" cy="1644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B6F73"/>
                </a:solidFill>
              </a:rPr>
              <a:t>Backup: bảng Related Work đầy đủ trong evidence-table-merged.md</a:t>
            </a:r>
            <a:endParaRPr lang="en-US" sz="1040" b="1" dirty="0">
              <a:solidFill>
                <a:srgbClr val="0B6F7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9520" y="6473952"/>
            <a:ext cx="3520440" cy="14630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6B7280"/>
                </a:solidFill>
              </a:rPr>
              <a:t>Nguồn: slide_outline.md; evidence-table-merged.md</a:t>
            </a:r>
            <a:endParaRPr lang="en-US" sz="840" dirty="0">
              <a:solidFill>
                <a:srgbClr val="6B728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6297</Words>
  <Application>WPS Presentation</Application>
  <PresentationFormat>On-screen Show (16:9)</PresentationFormat>
  <Paragraphs>504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Aptos Display</vt:lpstr>
      <vt:lpstr>Segoe UI</vt:lpstr>
      <vt:lpstr>Aptos Display</vt:lpstr>
      <vt:lpstr>Aptos Display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SE1944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Sinh Unit Test Tự Động Cho Hàm Java Dùng GPT-4o-mini</dc:title>
  <dc:creator>SE1944 Nhóm 01</dc:creator>
  <dc:subject>Bảo vệ đề cương nghiên cứu</dc:subject>
  <cp:lastModifiedBy>Admin</cp:lastModifiedBy>
  <cp:revision>7</cp:revision>
  <dcterms:created xsi:type="dcterms:W3CDTF">2026-06-19T05:29:00Z</dcterms:created>
  <dcterms:modified xsi:type="dcterms:W3CDTF">2026-06-23T06:00:03Z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7C4F0C8F58C14015B29A8C2533640721_12</vt:lpwstr>
  </property>
</Properties>
</file>