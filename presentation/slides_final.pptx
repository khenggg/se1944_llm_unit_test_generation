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Chào giảng viên, giới thiệu nhóm và nêu scope: đánh giá zero-shot GPT-4o-mini trên 63 hàm Java. Không đọc từng metric ở slide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Nêu vấn đề thực tế: API trả code không chứng minh test đúng. Nhấn mạnh 63/63 response nhưng chỉ 14/63 suite compile và pass. EvoSuite không phải student proxy.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Lướt qua năm RQ. Giải thích RQ3 chỉ ghép khi cả GPT và EvoSuite đều pass; RQ5 mô tả failure pattern nên không có p-value.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Đi từ source đến generation, validation, measurement, comparison. Nêu temperature = 0, một repair pass được phép, và EvoSuite archive chỉ được đo lại chứ không generate lại.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Dừng ở cột assertion failure: 47/49 suite invalid thất bại vì assertion, nên oracle validity là bottleneck chính. Không gọi API success là test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Đây là full corpus: không lọc các suite fail. Nêu 18.90% branch, 16.21% mutation, dual success 13/63. Kết luận RQ1, RQ2 và RQ4 không được hỗ trợ.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RQ3 là câu hỏi có điều kiện trên suite pass ở cả hai tool. 5-minute mutation gần nhất nhưng raw p=0.062509 và Holm p=0.375053, vì vậy không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Cân bằng kết luận: kết quả âm vẫn hữu ích. Nói rõ evidence supports strict validation và không supports bất kỳ kết luận nào về student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Chốt bằng ba con số: 14/63 executable, 63/63 EvoSuite pass tại mỗi budget, 0/6 RQ3 comparison significant sau Holm. Mời câu hỏi. Tổng thời lượng mục tiêu: 11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38404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RBL-5A FINAL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2336" y="1664208"/>
            <a:ext cx="10195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Zero-shot GPT-4o-mini tạo được 14 test suite chạy hợp lệ trên 63 hàm Java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02336" y="34015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bằng execution validity, branch coverage, mutation score và paired comparison với EvoSuite.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2336" y="5148072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5896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Lê Thế Khang  |  Huỳnh Cao Phước  |  Phạm An Khang  |  Nguyễn Thị Như Ý  |  Đỗ Long Vỹ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402336" y="59893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HumanEval-Java  •  GPT-4o-mini-2024-07-18  •  JaCoCo + PIT  •  16 July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STUDY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trả text không đồng nghĩa test suite hợp lệ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cần tách generation, compilation, execution và fault detection.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02336" y="2514600"/>
            <a:ext cx="3310128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60904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GENERATION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293522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7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 / 63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3456432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target đều trả content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43984" y="2514600"/>
            <a:ext cx="3310128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660904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EXECUTABLE SUITES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8576" y="293522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63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08576" y="3456432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và pass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85632" y="2514600"/>
            <a:ext cx="3310128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0224" y="2660904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SUITES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50224" y="293522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/ 63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50224" y="3456432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assertion; 2 compile failure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" y="4709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Ranh giới diễn giải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" y="5102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EvoSuite là comparator kỹ thuật có thể tái lập, không phải student-written data. So sánh với student benchmark được hoãn vì chưa có đo lường per-function tương thích.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Năm RQ liên kết quality threshold với execution reality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 chỉ dùng SUT mà GPT và EvoSuite đều pass.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530352" y="2267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226771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có vượt 30.22% branch coverage không?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2336" y="2697480"/>
            <a:ext cx="10927080" cy="0"/>
          </a:xfrm>
          <a:prstGeom prst="line">
            <a:avLst/>
          </a:prstGeom>
          <a:noFill/>
          <a:ln w="8890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926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292608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có vượt mutation-score floor 4.00% và target 40.21% không?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2336" y="3355848"/>
            <a:ext cx="10927080" cy="0"/>
          </a:xfrm>
          <a:prstGeom prst="line">
            <a:avLst/>
          </a:prstGeom>
          <a:noFill/>
          <a:ln w="889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84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53312" y="35844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Ở budget 1, 3, 5 phút, GPT có khác EvoSuite trên cùng SUT không?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02336" y="4014216"/>
            <a:ext cx="10927080" cy="0"/>
          </a:xfrm>
          <a:prstGeom prst="line">
            <a:avLst/>
          </a:prstGeom>
          <a:noFill/>
          <a:ln w="8890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2428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53312" y="424281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 hơn một nửa SUT đạt đồng thời cả hai threshold không?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02336" y="4672584"/>
            <a:ext cx="10927080" cy="0"/>
          </a:xfrm>
          <a:prstGeom prst="line">
            <a:avLst/>
          </a:prstGeom>
          <a:noFill/>
          <a:ln w="889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9011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53312" y="490118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pattern nào ngăn test đạt các threshold?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Một pipeline cố định đo cả hai tool trên cùng 63 SUT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 generation được ghi riêng với execution validity và metric quality.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11480" y="2578608"/>
            <a:ext cx="1993392" cy="1499616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7889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35844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 correct Java functions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423160" y="31729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0" y="2578608"/>
            <a:ext cx="1993392" cy="1499616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7889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98648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98648" y="35844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GPT-4o-mini; temp = 0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754880" y="31729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74920" y="2578608"/>
            <a:ext cx="1993392" cy="1499616"/>
          </a:xfrm>
          <a:prstGeom prst="rect">
            <a:avLst/>
          </a:prstGeom>
          <a:solidFill>
            <a:srgbClr val="FCECEC"/>
          </a:solidFill>
          <a:ln w="8890">
            <a:solidFill>
              <a:srgbClr val="E3B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7889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30368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30368" y="35844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Maven compile + run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7086600" y="31729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640" y="2578608"/>
            <a:ext cx="1993392" cy="1499616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27889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62088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62088" y="35844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JaCoCo + PIT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9418320" y="31729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38360" y="2578608"/>
            <a:ext cx="1993392" cy="1499616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93808" y="27889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93808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93808" y="35844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Wilcoxon + Holm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02336" y="4956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 EvoSuite 1/3/5 phút không được generate lại; chúng được đo lại bằng cùng Maven/JaCoCo/PIT pipeline trên Temurin JDK 8.</a:t>
            </a:r>
            <a:endParaRPr lang="en-US" sz="13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RESULTS: VALIDITY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validity là giới hạn chính của zero-shot protocol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Chỉ 14 test suite pass sau generation và một repair cycle được phép.</a:t>
            </a:r>
            <a:endParaRPr lang="en-US" sz="1280" dirty="0"/>
          </a:p>
        </p:txBody>
      </p:sp>
      <p:pic>
        <p:nvPicPr>
          <p:cNvPr id="8" name="Image 0" descr="F:\Ky 5\SWT301\Github\SE1944_LLM_Unit_Test_Generation\results\figures\fig1_execution_stat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" y="2130552"/>
            <a:ext cx="6537960" cy="3456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35824" y="2377440"/>
            <a:ext cx="3520440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0416" y="2523744"/>
            <a:ext cx="3191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 FAILURES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00416" y="2798064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00416" y="3319272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95.9% số suite invalid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735824" y="3950208"/>
            <a:ext cx="3520440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0416" y="4096512"/>
            <a:ext cx="3191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FAILURES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900416" y="4370832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900416" y="4892040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4.1% số suite invalid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35824" y="5577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luận: API success không được tính là test-suite success.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RESULTS: FULL CORPUS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quả full corpus không đạt các giả thuyết đã định trước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liệu gồm toàn bộ 63 target, không chỉ executable subset.</a:t>
            </a:r>
            <a:endParaRPr lang="en-US" sz="1280" dirty="0"/>
          </a:p>
        </p:txBody>
      </p:sp>
      <p:pic>
        <p:nvPicPr>
          <p:cNvPr id="8" name="Image 0" descr="F:\Ky 5\SWT301\Github\SE1944_LLM_Unit_Test_Generation\results\figures\fig2_gpt_metric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" y="2103120"/>
            <a:ext cx="640080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2331720"/>
            <a:ext cx="3657600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54112" y="2478024"/>
            <a:ext cx="3328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BRANCH COVERAGE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54112" y="275234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18.90%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54112" y="3273552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144 / 762 branches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589520" y="3904488"/>
            <a:ext cx="3657600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54112" y="4050792"/>
            <a:ext cx="3328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MUTATION SCORE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54112" y="4325112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16.21%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54112" y="484632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 / 833 mutants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589520" y="55046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RQ1, cả hai RQ2 threshold và RQ4 đều không được hỗ trợ (p &gt; 0.05). Dual success: 13 / 63 = 20.63%.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RESULTS: PAIRED COMPARISON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Không có GPT–EvoSuite comparison nào significant sau Holm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 dùng 14 branch pairs và 13 mutation pairs vì chỉ ghép suite pass ở cả hai tool.</a:t>
            </a:r>
            <a:endParaRPr lang="en-US" sz="1280" dirty="0"/>
          </a:p>
        </p:txBody>
      </p:sp>
      <p:pic>
        <p:nvPicPr>
          <p:cNvPr id="8" name="Image 0" descr="F:\Ky 5\SWT301\Github\SE1944_LLM_Unit_Test_Generation\results\figures\fig3_gpt_vs_evosuite_pai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" y="2139696"/>
            <a:ext cx="6565392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359152"/>
            <a:ext cx="3456432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36992" y="2505456"/>
            <a:ext cx="3127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COMPARISON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36992" y="277977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A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 mutation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36992" y="3300984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 = 0.062509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772400" y="3931920"/>
            <a:ext cx="3456432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36992" y="4078224"/>
            <a:ext cx="3127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ADJUSTMENT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936992" y="435254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0.375053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936992" y="4873752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statistically significant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72400" y="5486400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được tổng quát hóa pass-conditioned GPT mean sang full 63-SUT corpus.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Bottleneck là oracle validity, không phải khả năng API trả code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âm cho zero-shot reliability vẫn cho thấy workflow cần kiểm soát chặt.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02336" y="2359152"/>
            <a:ext cx="5212080" cy="2788920"/>
          </a:xfrm>
          <a:prstGeom prst="rect">
            <a:avLst/>
          </a:prstGeom>
          <a:solidFill>
            <a:srgbClr val="EAF2FF"/>
          </a:solidFill>
          <a:ln w="8890">
            <a:solidFill>
              <a:srgbClr val="B9C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6426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supports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31821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bằng compilation và execution.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21792" y="365760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Báo branch coverage kèm mutation score.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21792" y="41330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822960" y="4133088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EvoSuite theo budget đã nêu.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355080" y="2359152"/>
            <a:ext cx="5212080" cy="2788920"/>
          </a:xfrm>
          <a:prstGeom prst="rect">
            <a:avLst/>
          </a:prstGeom>
          <a:solidFill>
            <a:srgbClr val="FCECEC"/>
          </a:solidFill>
          <a:ln w="8890">
            <a:solidFill>
              <a:srgbClr val="E3B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42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does not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1821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784848" y="3182112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zero-shot luôn sinh test Java hợp lệ.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583680" y="365760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784848" y="3657600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tương đương EvoSuite trong mọi setting.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583680" y="41330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784848" y="4133088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Bất kỳ suy luận nào về student-written tests.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28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SE1944  |  EMPIRICAL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869680" y="228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2336" y="566928"/>
            <a:ext cx="1138428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86868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Bước tiếp theo: repair feedback và student baseline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02336" y="1399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Nghiên cứu này thiết lập ranh giới hiện tại và baseline có thể tái lập cho follow-up experiment.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02336" y="2542032"/>
            <a:ext cx="3310128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88336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RESULT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296265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63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3483864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suites executable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43984" y="2542032"/>
            <a:ext cx="3310128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688336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BASELINE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8576" y="296265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7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 / 63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08576" y="3483864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EvoSuite suites pass mỗi budget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85632" y="2542032"/>
            <a:ext cx="3310128" cy="1261872"/>
          </a:xfrm>
          <a:prstGeom prst="rect">
            <a:avLst/>
          </a:prstGeom>
          <a:solidFill>
            <a:srgbClr val="F2F2F2"/>
          </a:solidFill>
          <a:ln w="8890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0224" y="2688336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50224" y="296265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50224" y="3483864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 significant after Holm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" y="4617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2336" y="50109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603504" y="5010912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assertion bằng execution feedback.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402336" y="53766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603504" y="5376672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Lặp lại trên benchmark/model khác.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02336" y="574243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03504" y="5742432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Đo student suites bằng cùng pipeline trước khi so sánh.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FPT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GPT-4o-mini sinh unit test Java</dc:title>
  <dc:subject>RBL-5A final presentation</dc:subject>
  <dc:creator>SE1944 Nhóm 01</dc:creator>
  <cp:lastModifiedBy>SE1944 Nhóm 01</cp:lastModifiedBy>
  <cp:revision>1</cp:revision>
  <dcterms:created xsi:type="dcterms:W3CDTF">2026-07-16T11:03:39Z</dcterms:created>
  <dcterms:modified xsi:type="dcterms:W3CDTF">2026-07-16T11:03:39Z</dcterms:modified>
</cp:coreProperties>
</file>